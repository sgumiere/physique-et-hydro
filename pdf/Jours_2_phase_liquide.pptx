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docx" ContentType="application/vnd.openxmlformats-officedocument.wordprocessingml.document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notesSlides/notesSlide6.xml" ContentType="application/vnd.openxmlformats-officedocument.presentationml.notesSlide+xml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embeddings/oleObject34.bin" ContentType="application/vnd.openxmlformats-officedocument.oleObject"/>
  <Override PartName="/ppt/notesSlides/notesSlide11.xml" ContentType="application/vnd.openxmlformats-officedocument.presentationml.notesSlide+xml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notesSlides/notesSlide12.xml" ContentType="application/vnd.openxmlformats-officedocument.presentationml.notesSlide+xml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notesSlides/notesSlide13.xml" ContentType="application/vnd.openxmlformats-officedocument.presentationml.notesSlide+xml"/>
  <Override PartName="/ppt/embeddings/oleObject39.bin" ContentType="application/vnd.openxmlformats-officedocument.oleObject"/>
  <Override PartName="/ppt/notesSlides/notesSlide14.xml" ContentType="application/vnd.openxmlformats-officedocument.presentationml.notesSlide+xml"/>
  <Override PartName="/ppt/embeddings/oleObject40.bin" ContentType="application/vnd.openxmlformats-officedocument.oleObject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embeddings/oleObject41.bin" ContentType="application/vnd.openxmlformats-officedocument.oleObject"/>
  <Override PartName="/ppt/notesSlides/notesSlide17.xml" ContentType="application/vnd.openxmlformats-officedocument.presentationml.notesSlide+xml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notesSlides/notesSlide18.xml" ContentType="application/vnd.openxmlformats-officedocument.presentationml.notesSlide+xml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</p:sldMasterIdLst>
  <p:notesMasterIdLst>
    <p:notesMasterId r:id="rId89"/>
  </p:notesMasterIdLst>
  <p:handoutMasterIdLst>
    <p:handoutMasterId r:id="rId90"/>
  </p:handoutMasterIdLst>
  <p:sldIdLst>
    <p:sldId id="256" r:id="rId15"/>
    <p:sldId id="257" r:id="rId16"/>
    <p:sldId id="258" r:id="rId17"/>
    <p:sldId id="259" r:id="rId18"/>
    <p:sldId id="260" r:id="rId19"/>
    <p:sldId id="262" r:id="rId20"/>
    <p:sldId id="261" r:id="rId21"/>
    <p:sldId id="263" r:id="rId22"/>
    <p:sldId id="264" r:id="rId23"/>
    <p:sldId id="265" r:id="rId24"/>
    <p:sldId id="266" r:id="rId25"/>
    <p:sldId id="267" r:id="rId26"/>
    <p:sldId id="300" r:id="rId27"/>
    <p:sldId id="292" r:id="rId28"/>
    <p:sldId id="294" r:id="rId29"/>
    <p:sldId id="295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312" r:id="rId38"/>
    <p:sldId id="275" r:id="rId39"/>
    <p:sldId id="277" r:id="rId40"/>
    <p:sldId id="278" r:id="rId41"/>
    <p:sldId id="279" r:id="rId42"/>
    <p:sldId id="280" r:id="rId43"/>
    <p:sldId id="281" r:id="rId44"/>
    <p:sldId id="282" r:id="rId45"/>
    <p:sldId id="345" r:id="rId46"/>
    <p:sldId id="353" r:id="rId47"/>
    <p:sldId id="283" r:id="rId48"/>
    <p:sldId id="284" r:id="rId49"/>
    <p:sldId id="352" r:id="rId50"/>
    <p:sldId id="285" r:id="rId51"/>
    <p:sldId id="286" r:id="rId52"/>
    <p:sldId id="287" r:id="rId53"/>
    <p:sldId id="351" r:id="rId54"/>
    <p:sldId id="288" r:id="rId55"/>
    <p:sldId id="289" r:id="rId56"/>
    <p:sldId id="343" r:id="rId57"/>
    <p:sldId id="301" r:id="rId58"/>
    <p:sldId id="336" r:id="rId59"/>
    <p:sldId id="338" r:id="rId60"/>
    <p:sldId id="339" r:id="rId61"/>
    <p:sldId id="302" r:id="rId62"/>
    <p:sldId id="290" r:id="rId63"/>
    <p:sldId id="296" r:id="rId64"/>
    <p:sldId id="297" r:id="rId65"/>
    <p:sldId id="298" r:id="rId66"/>
    <p:sldId id="299" r:id="rId67"/>
    <p:sldId id="340" r:id="rId68"/>
    <p:sldId id="303" r:id="rId69"/>
    <p:sldId id="304" r:id="rId70"/>
    <p:sldId id="341" r:id="rId71"/>
    <p:sldId id="342" r:id="rId72"/>
    <p:sldId id="305" r:id="rId73"/>
    <p:sldId id="356" r:id="rId74"/>
    <p:sldId id="361" r:id="rId75"/>
    <p:sldId id="358" r:id="rId76"/>
    <p:sldId id="359" r:id="rId77"/>
    <p:sldId id="357" r:id="rId78"/>
    <p:sldId id="360" r:id="rId79"/>
    <p:sldId id="346" r:id="rId80"/>
    <p:sldId id="354" r:id="rId81"/>
    <p:sldId id="306" r:id="rId82"/>
    <p:sldId id="347" r:id="rId83"/>
    <p:sldId id="307" r:id="rId84"/>
    <p:sldId id="348" r:id="rId85"/>
    <p:sldId id="308" r:id="rId86"/>
    <p:sldId id="349" r:id="rId87"/>
    <p:sldId id="350" r:id="rId88"/>
  </p:sldIdLst>
  <p:sldSz cx="13004800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ilvi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5" autoAdjust="0"/>
    <p:restoredTop sz="86633" autoAdjust="0"/>
  </p:normalViewPr>
  <p:slideViewPr>
    <p:cSldViewPr>
      <p:cViewPr>
        <p:scale>
          <a:sx n="108" d="100"/>
          <a:sy n="108" d="100"/>
        </p:scale>
        <p:origin x="-1456" y="-56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-346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90" Type="http://schemas.openxmlformats.org/officeDocument/2006/relationships/handoutMaster" Target="handoutMasters/handoutMaster1.xml"/><Relationship Id="rId91" Type="http://schemas.openxmlformats.org/officeDocument/2006/relationships/printerSettings" Target="printerSettings/printerSettings1.bin"/><Relationship Id="rId92" Type="http://schemas.openxmlformats.org/officeDocument/2006/relationships/commentAuthors" Target="commentAuthors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3-02-11T15:23:08.363" idx="1">
    <p:pos x="10" y="10"/>
    <p:text>#### ici #####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1" Type="http://schemas.openxmlformats.org/officeDocument/2006/relationships/image" Target="../media/image9.emf"/><Relationship Id="rId2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Relationship Id="rId2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Relationship Id="rId2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Relationship Id="rId2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Relationship Id="rId2" Type="http://schemas.openxmlformats.org/officeDocument/2006/relationships/image" Target="../media/image43.emf"/><Relationship Id="rId3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Relationship Id="rId2" Type="http://schemas.openxmlformats.org/officeDocument/2006/relationships/image" Target="../media/image5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4" Type="http://schemas.openxmlformats.org/officeDocument/2006/relationships/image" Target="../media/image69.emf"/><Relationship Id="rId1" Type="http://schemas.openxmlformats.org/officeDocument/2006/relationships/image" Target="../media/image66.emf"/><Relationship Id="rId2" Type="http://schemas.openxmlformats.org/officeDocument/2006/relationships/image" Target="../media/image6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Relationship Id="rId2" Type="http://schemas.openxmlformats.org/officeDocument/2006/relationships/image" Target="../media/image68.emf"/><Relationship Id="rId3" Type="http://schemas.openxmlformats.org/officeDocument/2006/relationships/image" Target="../media/image6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Relationship Id="rId2" Type="http://schemas.openxmlformats.org/officeDocument/2006/relationships/image" Target="../media/image75.emf"/><Relationship Id="rId3" Type="http://schemas.openxmlformats.org/officeDocument/2006/relationships/image" Target="../media/image7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Relationship Id="rId2" Type="http://schemas.openxmlformats.org/officeDocument/2006/relationships/image" Target="../media/image7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Relationship Id="rId2" Type="http://schemas.openxmlformats.org/officeDocument/2006/relationships/image" Target="../media/image8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Relationship Id="rId2" Type="http://schemas.openxmlformats.org/officeDocument/2006/relationships/image" Target="../media/image8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Relationship Id="rId2" Type="http://schemas.openxmlformats.org/officeDocument/2006/relationships/image" Target="../media/image8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Relationship Id="rId2" Type="http://schemas.openxmlformats.org/officeDocument/2006/relationships/image" Target="../media/image9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4" Type="http://schemas.openxmlformats.org/officeDocument/2006/relationships/image" Target="../media/image101.emf"/><Relationship Id="rId5" Type="http://schemas.openxmlformats.org/officeDocument/2006/relationships/image" Target="../media/image102.emf"/><Relationship Id="rId1" Type="http://schemas.openxmlformats.org/officeDocument/2006/relationships/image" Target="../media/image98.emf"/><Relationship Id="rId2" Type="http://schemas.openxmlformats.org/officeDocument/2006/relationships/image" Target="../media/image99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Relationship Id="rId2" Type="http://schemas.openxmlformats.org/officeDocument/2006/relationships/image" Target="../media/image10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emf"/><Relationship Id="rId2" Type="http://schemas.openxmlformats.org/officeDocument/2006/relationships/image" Target="../media/image11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Relationship Id="rId2" Type="http://schemas.openxmlformats.org/officeDocument/2006/relationships/image" Target="../media/image134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4" Type="http://schemas.openxmlformats.org/officeDocument/2006/relationships/image" Target="../media/image143.emf"/><Relationship Id="rId5" Type="http://schemas.openxmlformats.org/officeDocument/2006/relationships/image" Target="../media/image144.emf"/><Relationship Id="rId1" Type="http://schemas.openxmlformats.org/officeDocument/2006/relationships/image" Target="../media/image140.emf"/><Relationship Id="rId2" Type="http://schemas.openxmlformats.org/officeDocument/2006/relationships/image" Target="../media/image1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F78EC-FB30-DE4A-BE81-E6E29E65E9E9}" type="datetimeFigureOut">
              <a:rPr lang="fr-FR" smtClean="0"/>
              <a:t>15-02-02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AFBF2-98EE-104E-9C5E-32D80B43E7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5383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26CC4-7EF1-7748-8DB9-4FBE9EEF8D0E}" type="datetimeFigureOut">
              <a:rPr lang="fr-FR" smtClean="0"/>
              <a:t>15-02-02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A7371-CC42-944C-8391-C284B5AE33D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5459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437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117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686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35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140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674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95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73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715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791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971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870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421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1795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288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222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956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69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A7371-CC42-944C-8391-C284B5AE33DE}" type="slidenum">
              <a:rPr lang="fr-FR" smtClean="0"/>
              <a:t>74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43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428270"/>
      </p:ext>
    </p:extLst>
  </p:cSld>
  <p:clrMapOvr>
    <a:masterClrMapping/>
  </p:clrMapOvr>
  <p:transition xmlns:p14="http://schemas.microsoft.com/office/powerpoint/2010/main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704118"/>
      </p:ext>
    </p:extLst>
  </p:cSld>
  <p:clrMapOvr>
    <a:masterClrMapping/>
  </p:clrMapOvr>
  <p:transition xmlns:p14="http://schemas.microsoft.com/office/powerpoint/2010/main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55092437"/>
      </p:ext>
    </p:extLst>
  </p:cSld>
  <p:clrMapOvr>
    <a:masterClrMapping/>
  </p:clrMapOvr>
  <p:transition xmlns:p14="http://schemas.microsoft.com/office/powerpoint/2010/main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92483"/>
      </p:ext>
    </p:extLst>
  </p:cSld>
  <p:clrMapOvr>
    <a:masterClrMapping/>
  </p:clrMapOvr>
  <p:transition xmlns:p14="http://schemas.microsoft.com/office/powerpoint/2010/main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721687"/>
      </p:ext>
    </p:extLst>
  </p:cSld>
  <p:clrMapOvr>
    <a:masterClrMapping/>
  </p:clrMapOvr>
  <p:transition xmlns:p14="http://schemas.microsoft.com/office/powerpoint/2010/main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244593"/>
      </p:ext>
    </p:extLst>
  </p:cSld>
  <p:clrMapOvr>
    <a:masterClrMapping/>
  </p:clrMapOvr>
  <p:transition xmlns:p14="http://schemas.microsoft.com/office/powerpoint/2010/main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753025"/>
      </p:ext>
    </p:extLst>
  </p:cSld>
  <p:clrMapOvr>
    <a:masterClrMapping/>
  </p:clrMapOvr>
  <p:transition xmlns:p14="http://schemas.microsoft.com/office/powerpoint/2010/main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11732664"/>
      </p:ext>
    </p:extLst>
  </p:cSld>
  <p:clrMapOvr>
    <a:masterClrMapping/>
  </p:clrMapOvr>
  <p:transition xmlns:p14="http://schemas.microsoft.com/office/powerpoint/2010/main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5370584"/>
      </p:ext>
    </p:extLst>
  </p:cSld>
  <p:clrMapOvr>
    <a:masterClrMapping/>
  </p:clrMapOvr>
  <p:transition xmlns:p14="http://schemas.microsoft.com/office/powerpoint/2010/main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98793"/>
      </p:ext>
    </p:extLst>
  </p:cSld>
  <p:clrMapOvr>
    <a:masterClrMapping/>
  </p:clrMapOvr>
  <p:transition xmlns:p14="http://schemas.microsoft.com/office/powerpoint/2010/main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444240"/>
      </p:ext>
    </p:extLst>
  </p:cSld>
  <p:clrMapOvr>
    <a:masterClrMapping/>
  </p:clrMapOvr>
  <p:transition xmlns:p14="http://schemas.microsoft.com/office/powerpoint/2010/main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999371"/>
      </p:ext>
    </p:extLst>
  </p:cSld>
  <p:clrMapOvr>
    <a:masterClrMapping/>
  </p:clrMapOvr>
  <p:transition xmlns:p14="http://schemas.microsoft.com/office/powerpoint/2010/main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916840"/>
      </p:ext>
    </p:extLst>
  </p:cSld>
  <p:clrMapOvr>
    <a:masterClrMapping/>
  </p:clrMapOvr>
  <p:transition xmlns:p14="http://schemas.microsoft.com/office/powerpoint/2010/main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38424335"/>
      </p:ext>
    </p:extLst>
  </p:cSld>
  <p:clrMapOvr>
    <a:masterClrMapping/>
  </p:clrMapOvr>
  <p:transition xmlns:p14="http://schemas.microsoft.com/office/powerpoint/2010/main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009339"/>
      </p:ext>
    </p:extLst>
  </p:cSld>
  <p:clrMapOvr>
    <a:masterClrMapping/>
  </p:clrMapOvr>
  <p:transition xmlns:p14="http://schemas.microsoft.com/office/powerpoint/2010/main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293364"/>
      </p:ext>
    </p:extLst>
  </p:cSld>
  <p:clrMapOvr>
    <a:masterClrMapping/>
  </p:clrMapOvr>
  <p:transition xmlns:p14="http://schemas.microsoft.com/office/powerpoint/2010/main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793061"/>
      </p:ext>
    </p:extLst>
  </p:cSld>
  <p:clrMapOvr>
    <a:masterClrMapping/>
  </p:clrMapOvr>
  <p:transition xmlns:p14="http://schemas.microsoft.com/office/powerpoint/2010/main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604259"/>
      </p:ext>
    </p:extLst>
  </p:cSld>
  <p:clrMapOvr>
    <a:masterClrMapping/>
  </p:clrMapOvr>
  <p:transition xmlns:p14="http://schemas.microsoft.com/office/powerpoint/2010/main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67865352"/>
      </p:ext>
    </p:extLst>
  </p:cSld>
  <p:clrMapOvr>
    <a:masterClrMapping/>
  </p:clrMapOvr>
  <p:transition xmlns:p14="http://schemas.microsoft.com/office/powerpoint/2010/main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30222800"/>
      </p:ext>
    </p:extLst>
  </p:cSld>
  <p:clrMapOvr>
    <a:masterClrMapping/>
  </p:clrMapOvr>
  <p:transition xmlns:p14="http://schemas.microsoft.com/office/powerpoint/2010/main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082771"/>
      </p:ext>
    </p:extLst>
  </p:cSld>
  <p:clrMapOvr>
    <a:masterClrMapping/>
  </p:clrMapOvr>
  <p:transition xmlns:p14="http://schemas.microsoft.com/office/powerpoint/2010/main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702371"/>
      </p:ext>
    </p:extLst>
  </p:cSld>
  <p:clrMapOvr>
    <a:masterClrMapping/>
  </p:clrMapOvr>
  <p:transition xmlns:p14="http://schemas.microsoft.com/office/powerpoint/2010/main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659351"/>
      </p:ext>
    </p:extLst>
  </p:cSld>
  <p:clrMapOvr>
    <a:masterClrMapping/>
  </p:clrMapOvr>
  <p:transition xmlns:p14="http://schemas.microsoft.com/office/powerpoint/2010/main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115933"/>
      </p:ext>
    </p:extLst>
  </p:cSld>
  <p:clrMapOvr>
    <a:masterClrMapping/>
  </p:clrMapOvr>
  <p:transition xmlns:p14="http://schemas.microsoft.com/office/powerpoint/2010/main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12827661"/>
      </p:ext>
    </p:extLst>
  </p:cSld>
  <p:clrMapOvr>
    <a:masterClrMapping/>
  </p:clrMapOvr>
  <p:transition xmlns:p14="http://schemas.microsoft.com/office/powerpoint/2010/main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489833"/>
      </p:ext>
    </p:extLst>
  </p:cSld>
  <p:clrMapOvr>
    <a:masterClrMapping/>
  </p:clrMapOvr>
  <p:transition xmlns:p14="http://schemas.microsoft.com/office/powerpoint/2010/main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203490"/>
      </p:ext>
    </p:extLst>
  </p:cSld>
  <p:clrMapOvr>
    <a:masterClrMapping/>
  </p:clrMapOvr>
  <p:transition xmlns:p14="http://schemas.microsoft.com/office/powerpoint/2010/main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49446"/>
      </p:ext>
    </p:extLst>
  </p:cSld>
  <p:clrMapOvr>
    <a:masterClrMapping/>
  </p:clrMapOvr>
  <p:transition xmlns:p14="http://schemas.microsoft.com/office/powerpoint/2010/main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997115"/>
      </p:ext>
    </p:extLst>
  </p:cSld>
  <p:clrMapOvr>
    <a:masterClrMapping/>
  </p:clrMapOvr>
  <p:transition xmlns:p14="http://schemas.microsoft.com/office/powerpoint/2010/main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48281512"/>
      </p:ext>
    </p:extLst>
  </p:cSld>
  <p:clrMapOvr>
    <a:masterClrMapping/>
  </p:clrMapOvr>
  <p:transition xmlns:p14="http://schemas.microsoft.com/office/powerpoint/2010/main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39909982"/>
      </p:ext>
    </p:extLst>
  </p:cSld>
  <p:clrMapOvr>
    <a:masterClrMapping/>
  </p:clrMapOvr>
  <p:transition xmlns:p14="http://schemas.microsoft.com/office/powerpoint/2010/main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399544"/>
      </p:ext>
    </p:extLst>
  </p:cSld>
  <p:clrMapOvr>
    <a:masterClrMapping/>
  </p:clrMapOvr>
  <p:transition xmlns:p14="http://schemas.microsoft.com/office/powerpoint/2010/main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55251"/>
      </p:ext>
    </p:extLst>
  </p:cSld>
  <p:clrMapOvr>
    <a:masterClrMapping/>
  </p:clrMapOvr>
  <p:transition xmlns:p14="http://schemas.microsoft.com/office/powerpoint/2010/main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285572"/>
      </p:ext>
    </p:extLst>
  </p:cSld>
  <p:clrMapOvr>
    <a:masterClrMapping/>
  </p:clrMapOvr>
  <p:transition xmlns:p14="http://schemas.microsoft.com/office/powerpoint/2010/main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409244"/>
      </p:ext>
    </p:extLst>
  </p:cSld>
  <p:clrMapOvr>
    <a:masterClrMapping/>
  </p:clrMapOvr>
  <p:transition xmlns:p14="http://schemas.microsoft.com/office/powerpoint/2010/main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82329613"/>
      </p:ext>
    </p:extLst>
  </p:cSld>
  <p:clrMapOvr>
    <a:masterClrMapping/>
  </p:clrMapOvr>
  <p:transition xmlns:p14="http://schemas.microsoft.com/office/powerpoint/2010/main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311504"/>
      </p:ext>
    </p:extLst>
  </p:cSld>
  <p:clrMapOvr>
    <a:masterClrMapping/>
  </p:clrMapOvr>
  <p:transition xmlns:p14="http://schemas.microsoft.com/office/powerpoint/2010/main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903021"/>
      </p:ext>
    </p:extLst>
  </p:cSld>
  <p:clrMapOvr>
    <a:masterClrMapping/>
  </p:clrMapOvr>
  <p:transition xmlns:p14="http://schemas.microsoft.com/office/powerpoint/2010/main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59782"/>
      </p:ext>
    </p:extLst>
  </p:cSld>
  <p:clrMapOvr>
    <a:masterClrMapping/>
  </p:clrMapOvr>
  <p:transition xmlns:p14="http://schemas.microsoft.com/office/powerpoint/2010/main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959077"/>
      </p:ext>
    </p:extLst>
  </p:cSld>
  <p:clrMapOvr>
    <a:masterClrMapping/>
  </p:clrMapOvr>
  <p:transition xmlns:p14="http://schemas.microsoft.com/office/powerpoint/2010/main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1110742"/>
      </p:ext>
    </p:extLst>
  </p:cSld>
  <p:clrMapOvr>
    <a:masterClrMapping/>
  </p:clrMapOvr>
  <p:transition xmlns:p14="http://schemas.microsoft.com/office/powerpoint/2010/main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76738734"/>
      </p:ext>
    </p:extLst>
  </p:cSld>
  <p:clrMapOvr>
    <a:masterClrMapping/>
  </p:clrMapOvr>
  <p:transition xmlns:p14="http://schemas.microsoft.com/office/powerpoint/2010/main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721368"/>
      </p:ext>
    </p:extLst>
  </p:cSld>
  <p:clrMapOvr>
    <a:masterClrMapping/>
  </p:clrMapOvr>
  <p:transition xmlns:p14="http://schemas.microsoft.com/office/powerpoint/2010/main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690025"/>
      </p:ext>
    </p:extLst>
  </p:cSld>
  <p:clrMapOvr>
    <a:masterClrMapping/>
  </p:clrMapOvr>
  <p:transition xmlns:p14="http://schemas.microsoft.com/office/powerpoint/2010/main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013187"/>
      </p:ext>
    </p:extLst>
  </p:cSld>
  <p:clrMapOvr>
    <a:masterClrMapping/>
  </p:clrMapOvr>
  <p:transition xmlns:p14="http://schemas.microsoft.com/office/powerpoint/2010/main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818396"/>
      </p:ext>
    </p:extLst>
  </p:cSld>
  <p:clrMapOvr>
    <a:masterClrMapping/>
  </p:clrMapOvr>
  <p:transition xmlns:p14="http://schemas.microsoft.com/office/powerpoint/2010/main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65068371"/>
      </p:ext>
    </p:extLst>
  </p:cSld>
  <p:clrMapOvr>
    <a:masterClrMapping/>
  </p:clrMapOvr>
  <p:transition xmlns:p14="http://schemas.microsoft.com/office/powerpoint/2010/main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011237"/>
      </p:ext>
    </p:extLst>
  </p:cSld>
  <p:clrMapOvr>
    <a:masterClrMapping/>
  </p:clrMapOvr>
  <p:transition xmlns:p14="http://schemas.microsoft.com/office/powerpoint/2010/main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352583"/>
      </p:ext>
    </p:extLst>
  </p:cSld>
  <p:clrMapOvr>
    <a:masterClrMapping/>
  </p:clrMapOvr>
  <p:transition xmlns:p14="http://schemas.microsoft.com/office/powerpoint/2010/main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947158"/>
      </p:ext>
    </p:extLst>
  </p:cSld>
  <p:clrMapOvr>
    <a:masterClrMapping/>
  </p:clrMapOvr>
  <p:transition xmlns:p14="http://schemas.microsoft.com/office/powerpoint/2010/main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73231"/>
      </p:ext>
    </p:extLst>
  </p:cSld>
  <p:clrMapOvr>
    <a:masterClrMapping/>
  </p:clrMapOvr>
  <p:transition xmlns:p14="http://schemas.microsoft.com/office/powerpoint/2010/main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41799494"/>
      </p:ext>
    </p:extLst>
  </p:cSld>
  <p:clrMapOvr>
    <a:masterClrMapping/>
  </p:clrMapOvr>
  <p:transition xmlns:p14="http://schemas.microsoft.com/office/powerpoint/2010/main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81585881"/>
      </p:ext>
    </p:extLst>
  </p:cSld>
  <p:clrMapOvr>
    <a:masterClrMapping/>
  </p:clrMapOvr>
  <p:transition xmlns:p14="http://schemas.microsoft.com/office/powerpoint/2010/main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533731"/>
      </p:ext>
    </p:extLst>
  </p:cSld>
  <p:clrMapOvr>
    <a:masterClrMapping/>
  </p:clrMapOvr>
  <p:transition xmlns:p14="http://schemas.microsoft.com/office/powerpoint/2010/main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0380"/>
      </p:ext>
    </p:extLst>
  </p:cSld>
  <p:clrMapOvr>
    <a:masterClrMapping/>
  </p:clrMapOvr>
  <p:transition xmlns:p14="http://schemas.microsoft.com/office/powerpoint/2010/main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805109"/>
      </p:ext>
    </p:extLst>
  </p:cSld>
  <p:clrMapOvr>
    <a:masterClrMapping/>
  </p:clrMapOvr>
  <p:transition xmlns:p14="http://schemas.microsoft.com/office/powerpoint/2010/main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807415"/>
      </p:ext>
    </p:extLst>
  </p:cSld>
  <p:clrMapOvr>
    <a:masterClrMapping/>
  </p:clrMapOvr>
  <p:transition xmlns:p14="http://schemas.microsoft.com/office/powerpoint/2010/main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87712912"/>
      </p:ext>
    </p:extLst>
  </p:cSld>
  <p:clrMapOvr>
    <a:masterClrMapping/>
  </p:clrMapOvr>
  <p:transition xmlns:p14="http://schemas.microsoft.com/office/powerpoint/2010/main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111580"/>
      </p:ext>
    </p:extLst>
  </p:cSld>
  <p:clrMapOvr>
    <a:masterClrMapping/>
  </p:clrMapOvr>
  <p:transition xmlns:p14="http://schemas.microsoft.com/office/powerpoint/2010/main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677104"/>
      </p:ext>
    </p:extLst>
  </p:cSld>
  <p:clrMapOvr>
    <a:masterClrMapping/>
  </p:clrMapOvr>
  <p:transition xmlns:p14="http://schemas.microsoft.com/office/powerpoint/2010/main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312563"/>
      </p:ext>
    </p:extLst>
  </p:cSld>
  <p:clrMapOvr>
    <a:masterClrMapping/>
  </p:clrMapOvr>
  <p:transition xmlns:p14="http://schemas.microsoft.com/office/powerpoint/2010/main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583163"/>
      </p:ext>
    </p:extLst>
  </p:cSld>
  <p:clrMapOvr>
    <a:masterClrMapping/>
  </p:clrMapOvr>
  <p:transition xmlns:p14="http://schemas.microsoft.com/office/powerpoint/2010/main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42598417"/>
      </p:ext>
    </p:extLst>
  </p:cSld>
  <p:clrMapOvr>
    <a:masterClrMapping/>
  </p:clrMapOvr>
  <p:transition xmlns:p14="http://schemas.microsoft.com/office/powerpoint/2010/main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73071506"/>
      </p:ext>
    </p:extLst>
  </p:cSld>
  <p:clrMapOvr>
    <a:masterClrMapping/>
  </p:clrMapOvr>
  <p:transition xmlns:p14="http://schemas.microsoft.com/office/powerpoint/2010/main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451061"/>
      </p:ext>
    </p:extLst>
  </p:cSld>
  <p:clrMapOvr>
    <a:masterClrMapping/>
  </p:clrMapOvr>
  <p:transition xmlns:p14="http://schemas.microsoft.com/office/powerpoint/2010/main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43198"/>
      </p:ext>
    </p:extLst>
  </p:cSld>
  <p:clrMapOvr>
    <a:masterClrMapping/>
  </p:clrMapOvr>
  <p:transition xmlns:p14="http://schemas.microsoft.com/office/powerpoint/2010/main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136527"/>
      </p:ext>
    </p:extLst>
  </p:cSld>
  <p:clrMapOvr>
    <a:masterClrMapping/>
  </p:clrMapOvr>
  <p:transition xmlns:p14="http://schemas.microsoft.com/office/powerpoint/2010/main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344160"/>
      </p:ext>
    </p:extLst>
  </p:cSld>
  <p:clrMapOvr>
    <a:masterClrMapping/>
  </p:clrMapOvr>
  <p:transition xmlns:p14="http://schemas.microsoft.com/office/powerpoint/2010/main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08365126"/>
      </p:ext>
    </p:extLst>
  </p:cSld>
  <p:clrMapOvr>
    <a:masterClrMapping/>
  </p:clrMapOvr>
  <p:transition xmlns:p14="http://schemas.microsoft.com/office/powerpoint/2010/main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270637"/>
      </p:ext>
    </p:extLst>
  </p:cSld>
  <p:clrMapOvr>
    <a:masterClrMapping/>
  </p:clrMapOvr>
  <p:transition xmlns:p14="http://schemas.microsoft.com/office/powerpoint/2010/main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760660"/>
      </p:ext>
    </p:extLst>
  </p:cSld>
  <p:clrMapOvr>
    <a:masterClrMapping/>
  </p:clrMapOvr>
  <p:transition xmlns:p14="http://schemas.microsoft.com/office/powerpoint/2010/main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702959"/>
      </p:ext>
    </p:extLst>
  </p:cSld>
  <p:clrMapOvr>
    <a:masterClrMapping/>
  </p:clrMapOvr>
  <p:transition xmlns:p14="http://schemas.microsoft.com/office/powerpoint/2010/main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609712"/>
      </p:ext>
    </p:extLst>
  </p:cSld>
  <p:clrMapOvr>
    <a:masterClrMapping/>
  </p:clrMapOvr>
  <p:transition xmlns:p14="http://schemas.microsoft.com/office/powerpoint/2010/main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98120035"/>
      </p:ext>
    </p:extLst>
  </p:cSld>
  <p:clrMapOvr>
    <a:masterClrMapping/>
  </p:clrMapOvr>
  <p:transition xmlns:p14="http://schemas.microsoft.com/office/powerpoint/2010/main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3321529"/>
      </p:ext>
    </p:extLst>
  </p:cSld>
  <p:clrMapOvr>
    <a:masterClrMapping/>
  </p:clrMapOvr>
  <p:transition xmlns:p14="http://schemas.microsoft.com/office/powerpoint/2010/main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766925"/>
      </p:ext>
    </p:extLst>
  </p:cSld>
  <p:clrMapOvr>
    <a:masterClrMapping/>
  </p:clrMapOvr>
  <p:transition xmlns:p14="http://schemas.microsoft.com/office/powerpoint/2010/main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463992"/>
      </p:ext>
    </p:extLst>
  </p:cSld>
  <p:clrMapOvr>
    <a:masterClrMapping/>
  </p:clrMapOvr>
  <p:transition xmlns:p14="http://schemas.microsoft.com/office/powerpoint/2010/main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566337"/>
      </p:ext>
    </p:extLst>
  </p:cSld>
  <p:clrMapOvr>
    <a:masterClrMapping/>
  </p:clrMapOvr>
  <p:transition xmlns:p14="http://schemas.microsoft.com/office/powerpoint/2010/main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943873"/>
      </p:ext>
    </p:extLst>
  </p:cSld>
  <p:clrMapOvr>
    <a:masterClrMapping/>
  </p:clrMapOvr>
  <p:transition xmlns:p14="http://schemas.microsoft.com/office/powerpoint/2010/main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00306616"/>
      </p:ext>
    </p:extLst>
  </p:cSld>
  <p:clrMapOvr>
    <a:masterClrMapping/>
  </p:clrMapOvr>
  <p:transition xmlns:p14="http://schemas.microsoft.com/office/powerpoint/2010/main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237170"/>
      </p:ext>
    </p:extLst>
  </p:cSld>
  <p:clrMapOvr>
    <a:masterClrMapping/>
  </p:clrMapOvr>
  <p:transition xmlns:p14="http://schemas.microsoft.com/office/powerpoint/2010/main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831222"/>
      </p:ext>
    </p:extLst>
  </p:cSld>
  <p:clrMapOvr>
    <a:masterClrMapping/>
  </p:clrMapOvr>
  <p:transition xmlns:p14="http://schemas.microsoft.com/office/powerpoint/2010/main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076008"/>
      </p:ext>
    </p:extLst>
  </p:cSld>
  <p:clrMapOvr>
    <a:masterClrMapping/>
  </p:clrMapOvr>
  <p:transition xmlns:p14="http://schemas.microsoft.com/office/powerpoint/2010/main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841417"/>
      </p:ext>
    </p:extLst>
  </p:cSld>
  <p:clrMapOvr>
    <a:masterClrMapping/>
  </p:clrMapOvr>
  <p:transition xmlns:p14="http://schemas.microsoft.com/office/powerpoint/2010/main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87545883"/>
      </p:ext>
    </p:extLst>
  </p:cSld>
  <p:clrMapOvr>
    <a:masterClrMapping/>
  </p:clrMapOvr>
  <p:transition xmlns:p14="http://schemas.microsoft.com/office/powerpoint/2010/main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67716038"/>
      </p:ext>
    </p:extLst>
  </p:cSld>
  <p:clrMapOvr>
    <a:masterClrMapping/>
  </p:clrMapOvr>
  <p:transition xmlns:p14="http://schemas.microsoft.com/office/powerpoint/2010/main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186190"/>
      </p:ext>
    </p:extLst>
  </p:cSld>
  <p:clrMapOvr>
    <a:masterClrMapping/>
  </p:clrMapOvr>
  <p:transition xmlns:p14="http://schemas.microsoft.com/office/powerpoint/2010/main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511892"/>
      </p:ext>
    </p:extLst>
  </p:cSld>
  <p:clrMapOvr>
    <a:masterClrMapping/>
  </p:clrMapOvr>
  <p:transition xmlns:p14="http://schemas.microsoft.com/office/powerpoint/2010/main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390584"/>
      </p:ext>
    </p:extLst>
  </p:cSld>
  <p:clrMapOvr>
    <a:masterClrMapping/>
  </p:clrMapOvr>
  <p:transition xmlns:p14="http://schemas.microsoft.com/office/powerpoint/2010/main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067511"/>
      </p:ext>
    </p:extLst>
  </p:cSld>
  <p:clrMapOvr>
    <a:masterClrMapping/>
  </p:clrMapOvr>
  <p:transition xmlns:p14="http://schemas.microsoft.com/office/powerpoint/2010/main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35736491"/>
      </p:ext>
    </p:extLst>
  </p:cSld>
  <p:clrMapOvr>
    <a:masterClrMapping/>
  </p:clrMapOvr>
  <p:transition xmlns:p14="http://schemas.microsoft.com/office/powerpoint/2010/main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521884"/>
      </p:ext>
    </p:extLst>
  </p:cSld>
  <p:clrMapOvr>
    <a:masterClrMapping/>
  </p:clrMapOvr>
  <p:transition xmlns:p14="http://schemas.microsoft.com/office/powerpoint/2010/main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144411"/>
      </p:ext>
    </p:extLst>
  </p:cSld>
  <p:clrMapOvr>
    <a:masterClrMapping/>
  </p:clrMapOvr>
  <p:transition xmlns:p14="http://schemas.microsoft.com/office/powerpoint/2010/main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245268"/>
      </p:ext>
    </p:extLst>
  </p:cSld>
  <p:clrMapOvr>
    <a:masterClrMapping/>
  </p:clrMapOvr>
  <p:transition xmlns:p14="http://schemas.microsoft.com/office/powerpoint/2010/main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320700"/>
      </p:ext>
    </p:extLst>
  </p:cSld>
  <p:clrMapOvr>
    <a:masterClrMapping/>
  </p:clrMapOvr>
  <p:transition xmlns:p14="http://schemas.microsoft.com/office/powerpoint/2010/main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39047842"/>
      </p:ext>
    </p:extLst>
  </p:cSld>
  <p:clrMapOvr>
    <a:masterClrMapping/>
  </p:clrMapOvr>
  <p:transition xmlns:p14="http://schemas.microsoft.com/office/powerpoint/2010/main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83377200"/>
      </p:ext>
    </p:extLst>
  </p:cSld>
  <p:clrMapOvr>
    <a:masterClrMapping/>
  </p:clrMapOvr>
  <p:transition xmlns:p14="http://schemas.microsoft.com/office/powerpoint/2010/main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198212"/>
      </p:ext>
    </p:extLst>
  </p:cSld>
  <p:clrMapOvr>
    <a:masterClrMapping/>
  </p:clrMapOvr>
  <p:transition xmlns:p14="http://schemas.microsoft.com/office/powerpoint/2010/main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221865"/>
      </p:ext>
    </p:extLst>
  </p:cSld>
  <p:clrMapOvr>
    <a:masterClrMapping/>
  </p:clrMapOvr>
  <p:transition xmlns:p14="http://schemas.microsoft.com/office/powerpoint/2010/main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565221"/>
      </p:ext>
    </p:extLst>
  </p:cSld>
  <p:clrMapOvr>
    <a:masterClrMapping/>
  </p:clrMapOvr>
  <p:transition xmlns:p14="http://schemas.microsoft.com/office/powerpoint/2010/main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556997"/>
      </p:ext>
    </p:extLst>
  </p:cSld>
  <p:clrMapOvr>
    <a:masterClrMapping/>
  </p:clrMapOvr>
  <p:transition xmlns:p14="http://schemas.microsoft.com/office/powerpoint/2010/main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7547046"/>
      </p:ext>
    </p:extLst>
  </p:cSld>
  <p:clrMapOvr>
    <a:masterClrMapping/>
  </p:clrMapOvr>
  <p:transition xmlns:p14="http://schemas.microsoft.com/office/powerpoint/2010/main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976421"/>
      </p:ext>
    </p:extLst>
  </p:cSld>
  <p:clrMapOvr>
    <a:masterClrMapping/>
  </p:clrMapOvr>
  <p:transition xmlns:p14="http://schemas.microsoft.com/office/powerpoint/2010/main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6587100"/>
      </p:ext>
    </p:extLst>
  </p:cSld>
  <p:clrMapOvr>
    <a:masterClrMapping/>
  </p:clrMapOvr>
  <p:transition xmlns:p14="http://schemas.microsoft.com/office/powerpoint/2010/main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581280"/>
      </p:ext>
    </p:extLst>
  </p:cSld>
  <p:clrMapOvr>
    <a:masterClrMapping/>
  </p:clrMapOvr>
  <p:transition xmlns:p14="http://schemas.microsoft.com/office/powerpoint/2010/main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5004"/>
      </p:ext>
    </p:extLst>
  </p:cSld>
  <p:clrMapOvr>
    <a:masterClrMapping/>
  </p:clrMapOvr>
  <p:transition xmlns:p14="http://schemas.microsoft.com/office/powerpoint/2010/main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4117566"/>
      </p:ext>
    </p:extLst>
  </p:cSld>
  <p:clrMapOvr>
    <a:masterClrMapping/>
  </p:clrMapOvr>
  <p:transition xmlns:p14="http://schemas.microsoft.com/office/powerpoint/2010/main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08175245"/>
      </p:ext>
    </p:extLst>
  </p:cSld>
  <p:clrMapOvr>
    <a:masterClrMapping/>
  </p:clrMapOvr>
  <p:transition xmlns:p14="http://schemas.microsoft.com/office/powerpoint/2010/main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 vert="horz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195587"/>
      </p:ext>
    </p:extLst>
  </p:cSld>
  <p:clrMapOvr>
    <a:masterClrMapping/>
  </p:clrMapOvr>
  <p:transition xmlns:p14="http://schemas.microsoft.com/office/powerpoint/2010/main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240025"/>
      </p:ext>
    </p:extLst>
  </p:cSld>
  <p:clrMapOvr>
    <a:masterClrMapping/>
  </p:clrMapOvr>
  <p:transition xmlns:p14="http://schemas.microsoft.com/office/powerpoint/2010/main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742673"/>
      </p:ext>
    </p:extLst>
  </p:cSld>
  <p:clrMapOvr>
    <a:masterClrMapping/>
  </p:clrMapOvr>
  <p:transition xmlns:p14="http://schemas.microsoft.com/office/powerpoint/2010/main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434213"/>
      </p:ext>
    </p:extLst>
  </p:cSld>
  <p:clrMapOvr>
    <a:masterClrMapping/>
  </p:clrMapOvr>
  <p:transition xmlns:p14="http://schemas.microsoft.com/office/powerpoint/2010/main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55485320"/>
      </p:ext>
    </p:extLst>
  </p:cSld>
  <p:clrMapOvr>
    <a:masterClrMapping/>
  </p:clrMapOvr>
  <p:transition xmlns:p14="http://schemas.microsoft.com/office/powerpoint/2010/main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347706"/>
      </p:ext>
    </p:extLst>
  </p:cSld>
  <p:clrMapOvr>
    <a:masterClrMapping/>
  </p:clrMapOvr>
  <p:transition xmlns:p14="http://schemas.microsoft.com/office/powerpoint/2010/main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77600"/>
      </p:ext>
    </p:extLst>
  </p:cSld>
  <p:clrMapOvr>
    <a:masterClrMapping/>
  </p:clrMapOvr>
  <p:transition xmlns:p14="http://schemas.microsoft.com/office/powerpoint/2010/main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709388"/>
      </p:ext>
    </p:extLst>
  </p:cSld>
  <p:clrMapOvr>
    <a:masterClrMapping/>
  </p:clrMapOvr>
  <p:transition xmlns:p14="http://schemas.microsoft.com/office/powerpoint/2010/main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67336"/>
      </p:ext>
    </p:extLst>
  </p:cSld>
  <p:clrMapOvr>
    <a:masterClrMapping/>
  </p:clrMapOvr>
  <p:transition xmlns:p14="http://schemas.microsoft.com/office/powerpoint/2010/main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17489799"/>
      </p:ext>
    </p:extLst>
  </p:cSld>
  <p:clrMapOvr>
    <a:masterClrMapping/>
  </p:clrMapOvr>
  <p:transition xmlns:p14="http://schemas.microsoft.com/office/powerpoint/2010/main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94325458"/>
      </p:ext>
    </p:extLst>
  </p:cSld>
  <p:clrMapOvr>
    <a:masterClrMapping/>
  </p:clrMapOvr>
  <p:transition xmlns:p14="http://schemas.microsoft.com/office/powerpoint/2010/main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565084"/>
      </p:ext>
    </p:extLst>
  </p:cSld>
  <p:clrMapOvr>
    <a:masterClrMapping/>
  </p:clrMapOvr>
  <p:transition xmlns:p14="http://schemas.microsoft.com/office/powerpoint/2010/main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708439"/>
      </p:ext>
    </p:extLst>
  </p:cSld>
  <p:clrMapOvr>
    <a:masterClrMapping/>
  </p:clrMapOvr>
  <p:transition xmlns:p14="http://schemas.microsoft.com/office/powerpoint/2010/main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367655"/>
      </p:ext>
    </p:extLst>
  </p:cSld>
  <p:clrMapOvr>
    <a:masterClrMapping/>
  </p:clrMapOvr>
  <p:transition xmlns:p14="http://schemas.microsoft.com/office/powerpoint/2010/main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68922"/>
      </p:ext>
    </p:extLst>
  </p:cSld>
  <p:clrMapOvr>
    <a:masterClrMapping/>
  </p:clrMapOvr>
  <p:transition xmlns:p14="http://schemas.microsoft.com/office/powerpoint/2010/main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07759365"/>
      </p:ext>
    </p:extLst>
  </p:cSld>
  <p:clrMapOvr>
    <a:masterClrMapping/>
  </p:clrMapOvr>
  <p:transition xmlns:p14="http://schemas.microsoft.com/office/powerpoint/2010/main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20482"/>
      </p:ext>
    </p:extLst>
  </p:cSld>
  <p:clrMapOvr>
    <a:masterClrMapping/>
  </p:clrMapOvr>
  <p:transition xmlns:p14="http://schemas.microsoft.com/office/powerpoint/2010/main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117647"/>
      </p:ext>
    </p:extLst>
  </p:cSld>
  <p:clrMapOvr>
    <a:masterClrMapping/>
  </p:clrMapOvr>
  <p:transition xmlns:p14="http://schemas.microsoft.com/office/powerpoint/2010/main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779317"/>
      </p:ext>
    </p:extLst>
  </p:cSld>
  <p:clrMapOvr>
    <a:masterClrMapping/>
  </p:clrMapOvr>
  <p:transition xmlns:p14="http://schemas.microsoft.com/office/powerpoint/2010/main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730556"/>
      </p:ext>
    </p:extLst>
  </p:cSld>
  <p:clrMapOvr>
    <a:masterClrMapping/>
  </p:clrMapOvr>
  <p:transition xmlns:p14="http://schemas.microsoft.com/office/powerpoint/2010/main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61502890"/>
      </p:ext>
    </p:extLst>
  </p:cSld>
  <p:clrMapOvr>
    <a:masterClrMapping/>
  </p:clrMapOvr>
  <p:transition xmlns:p14="http://schemas.microsoft.com/office/powerpoint/2010/main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01122827"/>
      </p:ext>
    </p:extLst>
  </p:cSld>
  <p:clrMapOvr>
    <a:masterClrMapping/>
  </p:clrMapOvr>
  <p:transition xmlns:p14="http://schemas.microsoft.com/office/powerpoint/2010/main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828944"/>
      </p:ext>
    </p:extLst>
  </p:cSld>
  <p:clrMapOvr>
    <a:masterClrMapping/>
  </p:clrMapOvr>
  <p:transition xmlns:p14="http://schemas.microsoft.com/office/powerpoint/2010/main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388198"/>
      </p:ext>
    </p:extLst>
  </p:cSld>
  <p:clrMapOvr>
    <a:masterClrMapping/>
  </p:clrMapOvr>
  <p:transition xmlns:p14="http://schemas.microsoft.com/office/powerpoint/2010/main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544958"/>
      </p:ext>
    </p:extLst>
  </p:cSld>
  <p:clrMapOvr>
    <a:masterClrMapping/>
  </p:clrMapOvr>
  <p:transition xmlns:p14="http://schemas.microsoft.com/office/powerpoint/2010/main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154095"/>
      </p:ext>
    </p:extLst>
  </p:cSld>
  <p:clrMapOvr>
    <a:masterClrMapping/>
  </p:clrMapOvr>
  <p:transition xmlns:p14="http://schemas.microsoft.com/office/powerpoint/2010/main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80394120"/>
      </p:ext>
    </p:extLst>
  </p:cSld>
  <p:clrMapOvr>
    <a:masterClrMapping/>
  </p:clrMapOvr>
  <p:transition xmlns:p14="http://schemas.microsoft.com/office/powerpoint/2010/main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604867"/>
      </p:ext>
    </p:extLst>
  </p:cSld>
  <p:clrMapOvr>
    <a:masterClrMapping/>
  </p:clrMapOvr>
  <p:transition xmlns:p14="http://schemas.microsoft.com/office/powerpoint/2010/main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8867197"/>
      </p:ext>
    </p:extLst>
  </p:cSld>
  <p:clrMapOvr>
    <a:masterClrMapping/>
  </p:clrMapOvr>
  <p:transition xmlns:p14="http://schemas.microsoft.com/office/powerpoint/2010/main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11062"/>
      </p:ext>
    </p:extLst>
  </p:cSld>
  <p:clrMapOvr>
    <a:masterClrMapping/>
  </p:clrMapOvr>
  <p:transition xmlns:p14="http://schemas.microsoft.com/office/powerpoint/2010/main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084536"/>
      </p:ext>
    </p:extLst>
  </p:cSld>
  <p:clrMapOvr>
    <a:masterClrMapping/>
  </p:clrMapOvr>
  <p:transition xmlns:p14="http://schemas.microsoft.com/office/powerpoint/2010/main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65555712"/>
      </p:ext>
    </p:extLst>
  </p:cSld>
  <p:clrMapOvr>
    <a:masterClrMapping/>
  </p:clrMapOvr>
  <p:transition xmlns:p14="http://schemas.microsoft.com/office/powerpoint/2010/main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39617127"/>
      </p:ext>
    </p:extLst>
  </p:cSld>
  <p:clrMapOvr>
    <a:masterClrMapping/>
  </p:clrMapOvr>
  <p:transition xmlns:p14="http://schemas.microsoft.com/office/powerpoint/2010/main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132158"/>
      </p:ext>
    </p:extLst>
  </p:cSld>
  <p:clrMapOvr>
    <a:masterClrMapping/>
  </p:clrMapOvr>
  <p:transition xmlns:p14="http://schemas.microsoft.com/office/powerpoint/2010/main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813876"/>
      </p:ext>
    </p:extLst>
  </p:cSld>
  <p:clrMapOvr>
    <a:masterClrMapping/>
  </p:clrMapOvr>
  <p:transition xmlns:p14="http://schemas.microsoft.com/office/powerpoint/2010/main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CA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566570"/>
      </p:ext>
    </p:extLst>
  </p:cSld>
  <p:clrMapOvr>
    <a:masterClrMapping/>
  </p:clrMapOvr>
  <p:transition xmlns:p14="http://schemas.microsoft.com/office/powerpoint/2010/main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769701"/>
      </p:ext>
    </p:extLst>
  </p:cSld>
  <p:clrMapOvr>
    <a:masterClrMapping/>
  </p:clrMapOvr>
  <p:transition xmlns:p14="http://schemas.microsoft.com/office/powerpoint/2010/main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97022982"/>
      </p:ext>
    </p:extLst>
  </p:cSld>
  <p:clrMapOvr>
    <a:masterClrMapping/>
  </p:clrMapOvr>
  <p:transition xmlns:p14="http://schemas.microsoft.com/office/powerpoint/2010/main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959006"/>
      </p:ext>
    </p:extLst>
  </p:cSld>
  <p:clrMapOvr>
    <a:masterClrMapping/>
  </p:clrMapOvr>
  <p:transition xmlns:p14="http://schemas.microsoft.com/office/powerpoint/2010/main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316042"/>
      </p:ext>
    </p:extLst>
  </p:cSld>
  <p:clrMapOvr>
    <a:masterClrMapping/>
  </p:clrMapOvr>
  <p:transition xmlns:p14="http://schemas.microsoft.com/office/powerpoint/2010/main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597412"/>
      </p:ext>
    </p:extLst>
  </p:cSld>
  <p:clrMapOvr>
    <a:masterClrMapping/>
  </p:clrMapOvr>
  <p:transition xmlns:p14="http://schemas.microsoft.com/office/powerpoint/2010/main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820922"/>
      </p:ext>
    </p:extLst>
  </p:cSld>
  <p:clrMapOvr>
    <a:masterClrMapping/>
  </p:clrMapOvr>
  <p:transition xmlns:p14="http://schemas.microsoft.com/office/powerpoint/2010/main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39068265"/>
      </p:ext>
    </p:extLst>
  </p:cSld>
  <p:clrMapOvr>
    <a:masterClrMapping/>
  </p:clrMapOvr>
  <p:transition xmlns:p14="http://schemas.microsoft.com/office/powerpoint/2010/main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04351901"/>
      </p:ext>
    </p:extLst>
  </p:cSld>
  <p:clrMapOvr>
    <a:masterClrMapping/>
  </p:clrMapOvr>
  <p:transition xmlns:p14="http://schemas.microsoft.com/office/powerpoint/2010/main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49326"/>
      </p:ext>
    </p:extLst>
  </p:cSld>
  <p:clrMapOvr>
    <a:masterClrMapping/>
  </p:clrMapOvr>
  <p:transition xmlns:p14="http://schemas.microsoft.com/office/powerpoint/2010/main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fr-CA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fr-CA" smtClean="0"/>
              <a:t>Cliquez pour modifier les styles du texte du masque</a:t>
            </a:r>
          </a:p>
          <a:p>
            <a:pPr lvl="1"/>
            <a:r>
              <a:rPr lang="fr-CA" smtClean="0"/>
              <a:t>Deuxième niveau</a:t>
            </a:r>
          </a:p>
          <a:p>
            <a:pPr lvl="2"/>
            <a:r>
              <a:rPr lang="fr-CA" smtClean="0"/>
              <a:t>Troisième niveau</a:t>
            </a:r>
          </a:p>
          <a:p>
            <a:pPr lvl="3"/>
            <a:r>
              <a:rPr lang="fr-CA" smtClean="0"/>
              <a:t>Quatrième niveau</a:t>
            </a:r>
          </a:p>
          <a:p>
            <a:pPr lvl="4"/>
            <a:r>
              <a:rPr lang="fr-CA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009686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99.xml"/><Relationship Id="rId12" Type="http://schemas.openxmlformats.org/officeDocument/2006/relationships/theme" Target="../theme/theme9.xml"/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0.xml"/><Relationship Id="rId1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21.xml"/><Relationship Id="rId12" Type="http://schemas.openxmlformats.org/officeDocument/2006/relationships/theme" Target="../theme/theme11.xml"/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/Relationships>
</file>

<file path=ppt/slideMasters/_rels/slideMaster1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32.xml"/><Relationship Id="rId12" Type="http://schemas.openxmlformats.org/officeDocument/2006/relationships/theme" Target="../theme/theme12.xml"/><Relationship Id="rId13" Type="http://schemas.openxmlformats.org/officeDocument/2006/relationships/image" Target="../media/image2.png"/><Relationship Id="rId1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1.xml"/></Relationships>
</file>

<file path=ppt/slideMasters/_rels/slideMaster1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43.xml"/><Relationship Id="rId12" Type="http://schemas.openxmlformats.org/officeDocument/2006/relationships/theme" Target="../theme/theme13.xml"/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2.xml"/></Relationships>
</file>

<file path=ppt/slideMasters/_rels/slideMaster1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54.xml"/><Relationship Id="rId12" Type="http://schemas.openxmlformats.org/officeDocument/2006/relationships/theme" Target="../theme/theme14.xml"/><Relationship Id="rId1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Noteworthy Light" charset="0"/>
              </a:rPr>
              <a:t>Click to edit Master text styles</a:t>
            </a:r>
          </a:p>
          <a:p>
            <a:pPr lvl="1"/>
            <a:r>
              <a:rPr lang="en-US">
                <a:sym typeface="Noteworthy Light" charset="0"/>
              </a:rPr>
              <a:t>Second level</a:t>
            </a:r>
          </a:p>
          <a:p>
            <a:pPr lvl="2"/>
            <a:r>
              <a:rPr lang="en-US">
                <a:sym typeface="Noteworthy Light" charset="0"/>
              </a:rPr>
              <a:t>Third level</a:t>
            </a:r>
          </a:p>
          <a:p>
            <a:pPr lvl="3"/>
            <a:r>
              <a:rPr lang="en-US">
                <a:sym typeface="Noteworthy Light" charset="0"/>
              </a:rPr>
              <a:t>Fourth level</a:t>
            </a:r>
          </a:p>
          <a:p>
            <a:pPr lvl="4"/>
            <a:r>
              <a:rPr lang="en-US">
                <a:sym typeface="Noteworthy Light" charset="0"/>
              </a:rPr>
              <a:t>Fifth level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Noteworthy Light" charset="0"/>
              </a:rPr>
              <a:t>Click to edit Master title style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8848725"/>
            <a:ext cx="19177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rgbClr val="3366FF"/>
          </a:solidFill>
          <a:latin typeface="+mj-lt"/>
          <a:ea typeface="+mj-ea"/>
          <a:cs typeface="+mj-cs"/>
          <a:sym typeface="Noteworthy Light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Noteworthy Light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Noteworthy Light" charset="0"/>
              </a:rPr>
              <a:t>Click to edit Master text styles</a:t>
            </a:r>
          </a:p>
          <a:p>
            <a:pPr lvl="1"/>
            <a:r>
              <a:rPr lang="en-US">
                <a:sym typeface="Noteworthy Light" charset="0"/>
              </a:rPr>
              <a:t>Second level</a:t>
            </a:r>
          </a:p>
          <a:p>
            <a:pPr lvl="2"/>
            <a:r>
              <a:rPr lang="en-US">
                <a:sym typeface="Noteworthy Light" charset="0"/>
              </a:rPr>
              <a:t>Third level</a:t>
            </a:r>
          </a:p>
          <a:p>
            <a:pPr lvl="3"/>
            <a:r>
              <a:rPr lang="en-US">
                <a:sym typeface="Noteworthy Light" charset="0"/>
              </a:rPr>
              <a:t>Fourth level</a:t>
            </a:r>
          </a:p>
          <a:p>
            <a:pPr lvl="4"/>
            <a:r>
              <a:rPr lang="en-US">
                <a:sym typeface="Noteworthy Light" charset="0"/>
              </a:rPr>
              <a:t>Fifth level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8848725"/>
            <a:ext cx="19177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rgbClr val="3366FF"/>
          </a:solidFill>
          <a:latin typeface="+mj-lt"/>
          <a:ea typeface="+mj-ea"/>
          <a:cs typeface="+mj-cs"/>
          <a:sym typeface="Noteworthy Light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9pPr>
    </p:titleStyle>
    <p:bodyStyle>
      <a:lvl1pPr marL="8382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1pPr>
      <a:lvl2pPr marL="12827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2pPr>
      <a:lvl3pPr marL="17272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3pPr>
      <a:lvl4pPr marL="21717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4pPr>
      <a:lvl5pPr marL="26162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5pPr>
      <a:lvl6pPr marL="30734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6pPr>
      <a:lvl7pPr marL="35306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7pPr>
      <a:lvl8pPr marL="39878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8pPr>
      <a:lvl9pPr marL="4445000" indent="-571500" algn="l" rtl="0" fontAlgn="base">
        <a:spcBef>
          <a:spcPts val="2400"/>
        </a:spcBef>
        <a:spcAft>
          <a:spcPct val="0"/>
        </a:spcAft>
        <a:buSzPct val="171000"/>
        <a:buFont typeface="Noteworthy Light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827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272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1717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162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0734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3335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78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2225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67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1242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3335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78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2225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67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1242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Noteworthy Light" charset="0"/>
              </a:rPr>
              <a:t>Click to edit Master title style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Noteworthy Light" charset="0"/>
              </a:rPr>
              <a:t>Click to edit Master text styles</a:t>
            </a:r>
          </a:p>
          <a:p>
            <a:pPr lvl="1"/>
            <a:r>
              <a:rPr lang="en-US">
                <a:sym typeface="Noteworthy Light" charset="0"/>
              </a:rPr>
              <a:t>Second level</a:t>
            </a:r>
          </a:p>
          <a:p>
            <a:pPr lvl="2"/>
            <a:r>
              <a:rPr lang="en-US">
                <a:sym typeface="Noteworthy Light" charset="0"/>
              </a:rPr>
              <a:t>Third level</a:t>
            </a:r>
          </a:p>
          <a:p>
            <a:pPr lvl="3"/>
            <a:r>
              <a:rPr lang="en-US">
                <a:sym typeface="Noteworthy Light" charset="0"/>
              </a:rPr>
              <a:t>Fourth level</a:t>
            </a:r>
          </a:p>
          <a:p>
            <a:pPr lvl="4"/>
            <a:r>
              <a:rPr lang="en-US">
                <a:sym typeface="Noteworthy Light" charset="0"/>
              </a:rPr>
              <a:t>Fifth level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8848725"/>
            <a:ext cx="19177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Noteworthy Light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Noteworthy Light" charset="0"/>
          <a:ea typeface="ヒラギノ明朝 ProN W3" charset="0"/>
          <a:cs typeface="ヒラギノ明朝 ProN W3" charset="0"/>
          <a:sym typeface="Noteworthy Light" charset="0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Noteworthy Light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Noteworthy Light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xmlns:p14="http://schemas.microsoft.com/office/powerpoint/2010/main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5.bin"/><Relationship Id="rId12" Type="http://schemas.openxmlformats.org/officeDocument/2006/relationships/image" Target="../media/image11.emf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12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oleObject" Target="../embeddings/oleObject3.bin"/><Relationship Id="rId8" Type="http://schemas.openxmlformats.org/officeDocument/2006/relationships/image" Target="../media/image9.e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oleObject" Target="../embeddings/oleObject7.bin"/><Relationship Id="rId7" Type="http://schemas.openxmlformats.org/officeDocument/2006/relationships/image" Target="../media/image17.emf"/><Relationship Id="rId8" Type="http://schemas.openxmlformats.org/officeDocument/2006/relationships/oleObject" Target="../embeddings/oleObject8.bin"/><Relationship Id="rId9" Type="http://schemas.openxmlformats.org/officeDocument/2006/relationships/image" Target="../media/image18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5.e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26.emf"/><Relationship Id="rId9" Type="http://schemas.openxmlformats.org/officeDocument/2006/relationships/image" Target="../media/image28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29.e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30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2.emf"/><Relationship Id="rId7" Type="http://schemas.openxmlformats.org/officeDocument/2006/relationships/oleObject" Target="../embeddings/oleObject15.bin"/><Relationship Id="rId8" Type="http://schemas.openxmlformats.org/officeDocument/2006/relationships/image" Target="../media/image33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6.emf"/><Relationship Id="rId3" Type="http://schemas.openxmlformats.org/officeDocument/2006/relationships/image" Target="../media/image3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8.jpeg"/><Relationship Id="rId3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0.jpeg"/><Relationship Id="rId3" Type="http://schemas.openxmlformats.org/officeDocument/2006/relationships/image" Target="../media/image3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1.jpeg"/><Relationship Id="rId3" Type="http://schemas.openxmlformats.org/officeDocument/2006/relationships/image" Target="../media/image3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42.emf"/><Relationship Id="rId7" Type="http://schemas.openxmlformats.org/officeDocument/2006/relationships/oleObject" Target="../embeddings/oleObject17.bin"/><Relationship Id="rId8" Type="http://schemas.openxmlformats.org/officeDocument/2006/relationships/image" Target="../media/image43.emf"/><Relationship Id="rId9" Type="http://schemas.openxmlformats.org/officeDocument/2006/relationships/oleObject" Target="../embeddings/oleObject18.bin"/><Relationship Id="rId10" Type="http://schemas.openxmlformats.org/officeDocument/2006/relationships/image" Target="../media/image44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1.emf"/><Relationship Id="rId3" Type="http://schemas.openxmlformats.org/officeDocument/2006/relationships/image" Target="../media/image5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3.emf"/><Relationship Id="rId3" Type="http://schemas.openxmlformats.org/officeDocument/2006/relationships/image" Target="../media/image5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5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1.jpeg"/><Relationship Id="rId6" Type="http://schemas.openxmlformats.org/officeDocument/2006/relationships/image" Target="../media/image61.png"/><Relationship Id="rId7" Type="http://schemas.openxmlformats.org/officeDocument/2006/relationships/oleObject" Target="../embeddings/oleObject19.bin"/><Relationship Id="rId8" Type="http://schemas.openxmlformats.org/officeDocument/2006/relationships/image" Target="../media/image57.emf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58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5.emf"/></Relationships>
</file>

<file path=ppt/slides/_rels/slide2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9.emf"/><Relationship Id="rId12" Type="http://schemas.openxmlformats.org/officeDocument/2006/relationships/comments" Target="../comments/comment1.xml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70.e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66.e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67.emf"/><Relationship Id="rId8" Type="http://schemas.openxmlformats.org/officeDocument/2006/relationships/oleObject" Target="../embeddings/oleObject23.bin"/><Relationship Id="rId9" Type="http://schemas.openxmlformats.org/officeDocument/2006/relationships/image" Target="../media/image68.emf"/><Relationship Id="rId10" Type="http://schemas.openxmlformats.org/officeDocument/2006/relationships/oleObject" Target="../embeddings/oleObject2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2.gi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71.emf"/><Relationship Id="rId7" Type="http://schemas.openxmlformats.org/officeDocument/2006/relationships/oleObject" Target="../embeddings/oleObject26.bin"/><Relationship Id="rId8" Type="http://schemas.openxmlformats.org/officeDocument/2006/relationships/image" Target="../media/image68.emf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69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package" Target="../embeddings/Microsoft_Word_Document1.docx"/><Relationship Id="rId5" Type="http://schemas.openxmlformats.org/officeDocument/2006/relationships/image" Target="../media/image74.emf"/><Relationship Id="rId6" Type="http://schemas.openxmlformats.org/officeDocument/2006/relationships/oleObject" Target="../embeddings/oleObject28.bin"/><Relationship Id="rId7" Type="http://schemas.openxmlformats.org/officeDocument/2006/relationships/image" Target="../media/image75.emf"/><Relationship Id="rId8" Type="http://schemas.openxmlformats.org/officeDocument/2006/relationships/oleObject" Target="../embeddings/oleObject29.bin"/><Relationship Id="rId9" Type="http://schemas.openxmlformats.org/officeDocument/2006/relationships/image" Target="../media/image76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30.bin"/><Relationship Id="rId5" Type="http://schemas.openxmlformats.org/officeDocument/2006/relationships/image" Target="../media/image77.emf"/><Relationship Id="rId6" Type="http://schemas.openxmlformats.org/officeDocument/2006/relationships/oleObject" Target="../embeddings/oleObject31.bin"/><Relationship Id="rId7" Type="http://schemas.openxmlformats.org/officeDocument/2006/relationships/image" Target="../media/image78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32.bin"/><Relationship Id="rId5" Type="http://schemas.openxmlformats.org/officeDocument/2006/relationships/image" Target="../media/image79.emf"/><Relationship Id="rId6" Type="http://schemas.openxmlformats.org/officeDocument/2006/relationships/oleObject" Target="../embeddings/oleObject33.bin"/><Relationship Id="rId7" Type="http://schemas.openxmlformats.org/officeDocument/2006/relationships/image" Target="../media/image80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83.jpeg"/><Relationship Id="rId5" Type="http://schemas.openxmlformats.org/officeDocument/2006/relationships/oleObject" Target="../embeddings/oleObject34.bin"/><Relationship Id="rId6" Type="http://schemas.openxmlformats.org/officeDocument/2006/relationships/image" Target="../media/image82.e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85.emf"/><Relationship Id="rId5" Type="http://schemas.openxmlformats.org/officeDocument/2006/relationships/oleObject" Target="../embeddings/oleObject35.bin"/><Relationship Id="rId6" Type="http://schemas.openxmlformats.org/officeDocument/2006/relationships/image" Target="../media/image84.emf"/><Relationship Id="rId7" Type="http://schemas.openxmlformats.org/officeDocument/2006/relationships/oleObject" Target="../embeddings/oleObject36.bin"/><Relationship Id="rId8" Type="http://schemas.openxmlformats.org/officeDocument/2006/relationships/image" Target="../media/image82.e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85.emf"/><Relationship Id="rId5" Type="http://schemas.openxmlformats.org/officeDocument/2006/relationships/oleObject" Target="../embeddings/oleObject37.bin"/><Relationship Id="rId6" Type="http://schemas.openxmlformats.org/officeDocument/2006/relationships/image" Target="../media/image86.emf"/><Relationship Id="rId7" Type="http://schemas.openxmlformats.org/officeDocument/2006/relationships/oleObject" Target="../embeddings/oleObject38.bin"/><Relationship Id="rId8" Type="http://schemas.openxmlformats.org/officeDocument/2006/relationships/image" Target="../media/image87.emf"/><Relationship Id="rId9" Type="http://schemas.openxmlformats.org/officeDocument/2006/relationships/image" Target="../media/image1.jpeg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89.emf"/><Relationship Id="rId5" Type="http://schemas.openxmlformats.org/officeDocument/2006/relationships/oleObject" Target="../embeddings/oleObject39.bin"/><Relationship Id="rId6" Type="http://schemas.openxmlformats.org/officeDocument/2006/relationships/image" Target="../media/image88.emf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91.jpeg"/><Relationship Id="rId5" Type="http://schemas.openxmlformats.org/officeDocument/2006/relationships/oleObject" Target="../embeddings/oleObject40.bin"/><Relationship Id="rId6" Type="http://schemas.openxmlformats.org/officeDocument/2006/relationships/image" Target="../media/image90.emf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94.png"/><Relationship Id="rId5" Type="http://schemas.openxmlformats.org/officeDocument/2006/relationships/oleObject" Target="../embeddings/oleObject41.bin"/><Relationship Id="rId6" Type="http://schemas.openxmlformats.org/officeDocument/2006/relationships/image" Target="../media/image93.emf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97.png"/><Relationship Id="rId5" Type="http://schemas.openxmlformats.org/officeDocument/2006/relationships/oleObject" Target="../embeddings/oleObject42.bin"/><Relationship Id="rId6" Type="http://schemas.openxmlformats.org/officeDocument/2006/relationships/image" Target="../media/image95.wmf"/><Relationship Id="rId7" Type="http://schemas.openxmlformats.org/officeDocument/2006/relationships/oleObject" Target="../embeddings/oleObject43.bin"/><Relationship Id="rId8" Type="http://schemas.openxmlformats.org/officeDocument/2006/relationships/image" Target="../media/image96.wmf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1.emf"/><Relationship Id="rId12" Type="http://schemas.openxmlformats.org/officeDocument/2006/relationships/oleObject" Target="../embeddings/oleObject48.bin"/><Relationship Id="rId13" Type="http://schemas.openxmlformats.org/officeDocument/2006/relationships/image" Target="../media/image102.emf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13.xml"/><Relationship Id="rId3" Type="http://schemas.openxmlformats.org/officeDocument/2006/relationships/oleObject" Target="../embeddings/oleObject44.bin"/><Relationship Id="rId4" Type="http://schemas.openxmlformats.org/officeDocument/2006/relationships/image" Target="../media/image98.emf"/><Relationship Id="rId5" Type="http://schemas.openxmlformats.org/officeDocument/2006/relationships/oleObject" Target="../embeddings/oleObject45.bin"/><Relationship Id="rId6" Type="http://schemas.openxmlformats.org/officeDocument/2006/relationships/image" Target="../media/image99.emf"/><Relationship Id="rId7" Type="http://schemas.openxmlformats.org/officeDocument/2006/relationships/oleObject" Target="../embeddings/oleObject46.bin"/><Relationship Id="rId8" Type="http://schemas.openxmlformats.org/officeDocument/2006/relationships/image" Target="../media/image100.emf"/><Relationship Id="rId9" Type="http://schemas.openxmlformats.org/officeDocument/2006/relationships/image" Target="../media/image1.jpeg"/><Relationship Id="rId10" Type="http://schemas.openxmlformats.org/officeDocument/2006/relationships/oleObject" Target="../embeddings/oleObject47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3.png"/><Relationship Id="rId3" Type="http://schemas.openxmlformats.org/officeDocument/2006/relationships/image" Target="../media/image10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4" Type="http://schemas.openxmlformats.org/officeDocument/2006/relationships/oleObject" Target="../embeddings/oleObject49.bin"/><Relationship Id="rId5" Type="http://schemas.openxmlformats.org/officeDocument/2006/relationships/image" Target="../media/image105.emf"/><Relationship Id="rId6" Type="http://schemas.openxmlformats.org/officeDocument/2006/relationships/oleObject" Target="../embeddings/oleObject50.bin"/><Relationship Id="rId7" Type="http://schemas.openxmlformats.org/officeDocument/2006/relationships/image" Target="../media/image106.emf"/><Relationship Id="rId1" Type="http://schemas.openxmlformats.org/officeDocument/2006/relationships/vmlDrawing" Target="../drawings/vmlDrawing23.vml"/><Relationship Id="rId2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8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4" Type="http://schemas.openxmlformats.org/officeDocument/2006/relationships/image" Target="../media/image109.emf"/><Relationship Id="rId5" Type="http://schemas.openxmlformats.org/officeDocument/2006/relationships/oleObject" Target="../embeddings/oleObject52.bin"/><Relationship Id="rId6" Type="http://schemas.openxmlformats.org/officeDocument/2006/relationships/image" Target="../media/image110.emf"/><Relationship Id="rId1" Type="http://schemas.openxmlformats.org/officeDocument/2006/relationships/vmlDrawing" Target="../drawings/vmlDrawing24.vml"/><Relationship Id="rId2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4.png"/><Relationship Id="rId3" Type="http://schemas.openxmlformats.org/officeDocument/2006/relationships/image" Target="../media/image115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7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24.png"/><Relationship Id="rId5" Type="http://schemas.openxmlformats.org/officeDocument/2006/relationships/oleObject" Target="../embeddings/oleObject53.bin"/><Relationship Id="rId6" Type="http://schemas.openxmlformats.org/officeDocument/2006/relationships/image" Target="../media/image123.emf"/><Relationship Id="rId1" Type="http://schemas.openxmlformats.org/officeDocument/2006/relationships/vmlDrawing" Target="../drawings/vmlDrawing25.vml"/><Relationship Id="rId2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5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4" Type="http://schemas.openxmlformats.org/officeDocument/2006/relationships/oleObject" Target="../embeddings/oleObject54.bin"/><Relationship Id="rId5" Type="http://schemas.openxmlformats.org/officeDocument/2006/relationships/image" Target="../media/image126.emf"/><Relationship Id="rId1" Type="http://schemas.openxmlformats.org/officeDocument/2006/relationships/vmlDrawing" Target="../drawings/vmlDrawing26.vml"/><Relationship Id="rId2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7.png"/><Relationship Id="rId3" Type="http://schemas.openxmlformats.org/officeDocument/2006/relationships/image" Target="../media/image12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1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4" Type="http://schemas.openxmlformats.org/officeDocument/2006/relationships/oleObject" Target="../embeddings/oleObject55.bin"/><Relationship Id="rId5" Type="http://schemas.openxmlformats.org/officeDocument/2006/relationships/image" Target="../media/image133.wmf"/><Relationship Id="rId6" Type="http://schemas.openxmlformats.org/officeDocument/2006/relationships/oleObject" Target="../embeddings/oleObject56.bin"/><Relationship Id="rId7" Type="http://schemas.openxmlformats.org/officeDocument/2006/relationships/image" Target="../media/image134.emf"/><Relationship Id="rId1" Type="http://schemas.openxmlformats.org/officeDocument/2006/relationships/vmlDrawing" Target="../drawings/vmlDrawing27.vml"/><Relationship Id="rId2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6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4" Type="http://schemas.openxmlformats.org/officeDocument/2006/relationships/oleObject" Target="../embeddings/oleObject57.bin"/><Relationship Id="rId5" Type="http://schemas.openxmlformats.org/officeDocument/2006/relationships/image" Target="../media/image138.emf"/><Relationship Id="rId1" Type="http://schemas.openxmlformats.org/officeDocument/2006/relationships/vmlDrawing" Target="../drawings/vmlDrawing28.vml"/><Relationship Id="rId2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62.bin"/><Relationship Id="rId12" Type="http://schemas.openxmlformats.org/officeDocument/2006/relationships/image" Target="../media/image144.emf"/><Relationship Id="rId1" Type="http://schemas.openxmlformats.org/officeDocument/2006/relationships/vmlDrawing" Target="../drawings/vmlDrawing29.vml"/><Relationship Id="rId2" Type="http://schemas.openxmlformats.org/officeDocument/2006/relationships/slideLayout" Target="../slideLayouts/slideLayout16.xml"/><Relationship Id="rId3" Type="http://schemas.openxmlformats.org/officeDocument/2006/relationships/oleObject" Target="../embeddings/oleObject58.bin"/><Relationship Id="rId4" Type="http://schemas.openxmlformats.org/officeDocument/2006/relationships/image" Target="../media/image140.emf"/><Relationship Id="rId5" Type="http://schemas.openxmlformats.org/officeDocument/2006/relationships/oleObject" Target="../embeddings/oleObject59.bin"/><Relationship Id="rId6" Type="http://schemas.openxmlformats.org/officeDocument/2006/relationships/image" Target="../media/image141.emf"/><Relationship Id="rId7" Type="http://schemas.openxmlformats.org/officeDocument/2006/relationships/oleObject" Target="../embeddings/oleObject60.bin"/><Relationship Id="rId8" Type="http://schemas.openxmlformats.org/officeDocument/2006/relationships/image" Target="../media/image142.wmf"/><Relationship Id="rId9" Type="http://schemas.openxmlformats.org/officeDocument/2006/relationships/oleObject" Target="../embeddings/oleObject61.bin"/><Relationship Id="rId10" Type="http://schemas.openxmlformats.org/officeDocument/2006/relationships/image" Target="../media/image143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.jpe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1245816" y="2788568"/>
            <a:ext cx="10464800" cy="3302000"/>
          </a:xfrm>
          <a:ln/>
        </p:spPr>
        <p:txBody>
          <a:bodyPr/>
          <a:lstStyle/>
          <a:p>
            <a:r>
              <a:rPr lang="en-US" dirty="0" err="1">
                <a:solidFill>
                  <a:srgbClr val="0044FE"/>
                </a:solidFill>
              </a:rPr>
              <a:t>Processus</a:t>
            </a:r>
            <a:r>
              <a:rPr lang="en-US" dirty="0">
                <a:solidFill>
                  <a:srgbClr val="0044FE"/>
                </a:solidFill>
              </a:rPr>
              <a:t> des </a:t>
            </a:r>
            <a:r>
              <a:rPr lang="en-US" dirty="0" err="1">
                <a:solidFill>
                  <a:srgbClr val="0044FE"/>
                </a:solidFill>
              </a:rPr>
              <a:t>Systèmes</a:t>
            </a:r>
            <a:r>
              <a:rPr lang="en-US" dirty="0">
                <a:solidFill>
                  <a:srgbClr val="0044FE"/>
                </a:solidFill>
              </a:rPr>
              <a:t> Sol-</a:t>
            </a:r>
            <a:r>
              <a:rPr lang="en-US" dirty="0" smtClean="0">
                <a:solidFill>
                  <a:srgbClr val="0044FE"/>
                </a:solidFill>
              </a:rPr>
              <a:t>Eau</a:t>
            </a:r>
            <a:br>
              <a:rPr lang="en-US" dirty="0" smtClean="0">
                <a:solidFill>
                  <a:srgbClr val="0044FE"/>
                </a:solidFill>
              </a:rPr>
            </a:br>
            <a:r>
              <a:rPr lang="en-US" dirty="0" smtClean="0">
                <a:solidFill>
                  <a:srgbClr val="0044FE"/>
                </a:solidFill>
              </a:rPr>
              <a:t/>
            </a:r>
            <a:br>
              <a:rPr lang="en-US" dirty="0" smtClean="0">
                <a:solidFill>
                  <a:srgbClr val="0044FE"/>
                </a:solidFill>
              </a:rPr>
            </a:br>
            <a:r>
              <a:rPr lang="en-US" sz="6000" dirty="0" smtClean="0">
                <a:solidFill>
                  <a:srgbClr val="0044FE"/>
                </a:solidFill>
              </a:rPr>
              <a:t>GAE-1004</a:t>
            </a:r>
            <a:endParaRPr lang="en-US" sz="6000" dirty="0">
              <a:solidFill>
                <a:srgbClr val="0044FE"/>
              </a:solidFill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5816" y="7253064"/>
            <a:ext cx="10464800" cy="1130300"/>
          </a:xfrm>
          <a:ln/>
        </p:spPr>
        <p:txBody>
          <a:bodyPr/>
          <a:lstStyle/>
          <a:p>
            <a:r>
              <a:rPr lang="en-US" dirty="0"/>
              <a:t>Silvio J. Gumiere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à coins arrondis 11"/>
          <p:cNvSpPr/>
          <p:nvPr/>
        </p:nvSpPr>
        <p:spPr bwMode="auto">
          <a:xfrm>
            <a:off x="7438504" y="1924472"/>
            <a:ext cx="4752528" cy="6264696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-482600"/>
            <a:ext cx="10464800" cy="2438400"/>
          </a:xfrm>
          <a:ln/>
        </p:spPr>
        <p:txBody>
          <a:bodyPr/>
          <a:lstStyle/>
          <a:p>
            <a:r>
              <a:rPr lang="en-US"/>
              <a:t>Eau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01800" y="1852464"/>
            <a:ext cx="5918200" cy="6057900"/>
          </a:xfrm>
          <a:ln/>
        </p:spPr>
        <p:txBody>
          <a:bodyPr/>
          <a:lstStyle/>
          <a:p>
            <a:pPr marL="317500" indent="0">
              <a:buNone/>
            </a:pPr>
            <a:r>
              <a:rPr lang="en-US" dirty="0" err="1"/>
              <a:t>L'eau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des plus </a:t>
            </a:r>
            <a:r>
              <a:rPr lang="en-US" dirty="0" err="1"/>
              <a:t>importantes</a:t>
            </a:r>
            <a:r>
              <a:rPr lang="en-US" dirty="0"/>
              <a:t> substances qui compose la croute </a:t>
            </a:r>
            <a:r>
              <a:rPr lang="en-US" dirty="0" err="1"/>
              <a:t>terrestre</a:t>
            </a:r>
            <a:r>
              <a:rPr lang="en-US" dirty="0"/>
              <a:t>.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 </a:t>
            </a:r>
            <a:r>
              <a:rPr lang="en-US" dirty="0" err="1"/>
              <a:t>liquide</a:t>
            </a:r>
            <a:r>
              <a:rPr lang="en-US" dirty="0"/>
              <a:t>,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couvre</a:t>
            </a:r>
            <a:r>
              <a:rPr lang="en-US" dirty="0"/>
              <a:t> plus des </a:t>
            </a:r>
            <a:r>
              <a:rPr lang="en-US" dirty="0" err="1"/>
              <a:t>deux</a:t>
            </a:r>
            <a:r>
              <a:rPr lang="en-US" dirty="0"/>
              <a:t> tiers de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planète</a:t>
            </a:r>
            <a:r>
              <a:rPr lang="en-US" dirty="0"/>
              <a:t>.</a:t>
            </a:r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128776"/>
              </p:ext>
            </p:extLst>
          </p:nvPr>
        </p:nvGraphicFramePr>
        <p:xfrm>
          <a:off x="5969000" y="322580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18" name="Equation" r:id="rId3" imgW="114300" imgH="165100" progId="Equation.DSMT4">
                  <p:embed/>
                </p:oleObj>
              </mc:Choice>
              <mc:Fallback>
                <p:oleObj name="Equation" r:id="rId3" imgW="114300" imgH="165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9000" y="322580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994560"/>
              </p:ext>
            </p:extLst>
          </p:nvPr>
        </p:nvGraphicFramePr>
        <p:xfrm>
          <a:off x="7726536" y="2140496"/>
          <a:ext cx="4176464" cy="58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19" name="Equation" r:id="rId5" imgW="1028700" imgH="1435100" progId="Equation.DSMT4">
                  <p:embed/>
                </p:oleObj>
              </mc:Choice>
              <mc:Fallback>
                <p:oleObj name="Equation" r:id="rId5" imgW="1028700" imgH="1435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26536" y="2140496"/>
                        <a:ext cx="4176464" cy="582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-190500"/>
            <a:ext cx="10464800" cy="2438400"/>
          </a:xfrm>
          <a:ln/>
        </p:spPr>
        <p:txBody>
          <a:bodyPr/>
          <a:lstStyle/>
          <a:p>
            <a:r>
              <a:rPr lang="en-US"/>
              <a:t>Molécule d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eau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184400"/>
            <a:ext cx="678180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7937500"/>
            <a:ext cx="12128500" cy="1663700"/>
          </a:xfrm>
          <a:ln/>
        </p:spPr>
        <p:txBody>
          <a:bodyPr/>
          <a:lstStyle/>
          <a:p>
            <a:pPr marL="889000"/>
            <a:r>
              <a:rPr lang="en-US"/>
              <a:t>Cette distribution asymétrique des charges crée un dipôle responsable d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une série de propriétés.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155" y="1852464"/>
            <a:ext cx="3766096" cy="25115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80456"/>
            <a:ext cx="3764136" cy="373590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Tension superficielle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317500" indent="0">
              <a:buNone/>
            </a:pPr>
            <a:r>
              <a:rPr lang="en-US" dirty="0"/>
              <a:t>La tension </a:t>
            </a:r>
            <a:r>
              <a:rPr lang="en-US" dirty="0" err="1"/>
              <a:t>superficielle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le </a:t>
            </a:r>
            <a:r>
              <a:rPr lang="en-US" dirty="0" err="1"/>
              <a:t>phénomène</a:t>
            </a:r>
            <a:r>
              <a:rPr lang="en-US" dirty="0"/>
              <a:t> </a:t>
            </a:r>
            <a:r>
              <a:rPr lang="en-US" dirty="0" err="1"/>
              <a:t>typique</a:t>
            </a:r>
            <a:r>
              <a:rPr lang="en-US" dirty="0"/>
              <a:t> d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une</a:t>
            </a:r>
            <a:r>
              <a:rPr lang="en-US" dirty="0"/>
              <a:t> interface </a:t>
            </a:r>
            <a:r>
              <a:rPr lang="en-US" dirty="0" err="1"/>
              <a:t>liquide</a:t>
            </a:r>
            <a:r>
              <a:rPr lang="en-US" dirty="0"/>
              <a:t>-gaz. La </a:t>
            </a:r>
            <a:r>
              <a:rPr lang="en-US" dirty="0" err="1"/>
              <a:t>plupart</a:t>
            </a:r>
            <a:r>
              <a:rPr lang="en-US" dirty="0"/>
              <a:t> des </a:t>
            </a:r>
            <a:r>
              <a:rPr lang="en-US" dirty="0" err="1"/>
              <a:t>liquides</a:t>
            </a:r>
            <a:r>
              <a:rPr lang="en-US" dirty="0"/>
              <a:t> se </a:t>
            </a:r>
            <a:r>
              <a:rPr lang="en-US" dirty="0" err="1"/>
              <a:t>comportent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s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étaient</a:t>
            </a:r>
            <a:r>
              <a:rPr lang="en-US" dirty="0"/>
              <a:t> </a:t>
            </a:r>
            <a:r>
              <a:rPr lang="en-US" dirty="0" err="1"/>
              <a:t>couverts</a:t>
            </a:r>
            <a:r>
              <a:rPr lang="en-US" dirty="0"/>
              <a:t> par </a:t>
            </a:r>
            <a:r>
              <a:rPr lang="en-US" dirty="0" err="1"/>
              <a:t>une</a:t>
            </a:r>
            <a:r>
              <a:rPr lang="en-US" dirty="0"/>
              <a:t> fine </a:t>
            </a:r>
            <a:r>
              <a:rPr lang="en-US" dirty="0" err="1"/>
              <a:t>pellicule</a:t>
            </a:r>
            <a:r>
              <a:rPr lang="en-US" dirty="0"/>
              <a:t> </a:t>
            </a:r>
            <a:r>
              <a:rPr lang="en-US" dirty="0" err="1"/>
              <a:t>élastique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-660400"/>
            <a:ext cx="10464800" cy="2438400"/>
          </a:xfrm>
          <a:ln/>
        </p:spPr>
        <p:txBody>
          <a:bodyPr/>
          <a:lstStyle/>
          <a:p>
            <a:r>
              <a:rPr lang="en-US"/>
              <a:t>Tension superficielle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1206500"/>
            <a:ext cx="10464800" cy="3568700"/>
          </a:xfrm>
          <a:ln/>
        </p:spPr>
        <p:txBody>
          <a:bodyPr/>
          <a:lstStyle/>
          <a:p>
            <a:pPr marL="317500" indent="0">
              <a:buNone/>
            </a:pPr>
            <a:r>
              <a:rPr lang="en-US" dirty="0"/>
              <a:t>Les </a:t>
            </a:r>
            <a:r>
              <a:rPr lang="en-US" dirty="0" err="1"/>
              <a:t>molécules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l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intérieur</a:t>
            </a:r>
            <a:r>
              <a:rPr lang="en-US" dirty="0"/>
              <a:t> du </a:t>
            </a:r>
            <a:r>
              <a:rPr lang="en-US" dirty="0" err="1"/>
              <a:t>fluide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attirées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toutes</a:t>
            </a:r>
            <a:r>
              <a:rPr lang="en-US" dirty="0"/>
              <a:t> les directions par des forces </a:t>
            </a:r>
            <a:r>
              <a:rPr lang="en-US" dirty="0" err="1"/>
              <a:t>égales</a:t>
            </a:r>
            <a:r>
              <a:rPr lang="en-US" dirty="0"/>
              <a:t>, </a:t>
            </a:r>
            <a:r>
              <a:rPr lang="en-US" dirty="0" err="1"/>
              <a:t>alors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</a:t>
            </a:r>
            <a:r>
              <a:rPr lang="en-US" dirty="0" err="1"/>
              <a:t>molécules</a:t>
            </a:r>
            <a:r>
              <a:rPr lang="en-US" dirty="0"/>
              <a:t> </a:t>
            </a:r>
            <a:r>
              <a:rPr lang="en-US" dirty="0" err="1"/>
              <a:t>proches</a:t>
            </a:r>
            <a:r>
              <a:rPr lang="en-US" dirty="0"/>
              <a:t> de la surface (interface eau-air)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attirées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 l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intérieur</a:t>
            </a:r>
            <a:r>
              <a:rPr lang="en-US" dirty="0"/>
              <a:t> du </a:t>
            </a:r>
            <a:r>
              <a:rPr lang="en-US" dirty="0" err="1"/>
              <a:t>fluide</a:t>
            </a:r>
            <a:endParaRPr 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4953000"/>
            <a:ext cx="7658100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-685800"/>
            <a:ext cx="10464800" cy="2438400"/>
          </a:xfrm>
          <a:ln/>
        </p:spPr>
        <p:txBody>
          <a:bodyPr/>
          <a:lstStyle/>
          <a:p>
            <a:r>
              <a:rPr lang="en-US"/>
              <a:t>Tension superficielle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2006600"/>
            <a:ext cx="5937250" cy="605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755900"/>
            <a:ext cx="646906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5"/>
          <p:cNvSpPr>
            <a:spLocks/>
          </p:cNvSpPr>
          <p:nvPr/>
        </p:nvSpPr>
        <p:spPr bwMode="auto">
          <a:xfrm>
            <a:off x="96838" y="4051300"/>
            <a:ext cx="42148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Le volume passe de :</a:t>
            </a:r>
          </a:p>
        </p:txBody>
      </p:sp>
      <p:sp>
        <p:nvSpPr>
          <p:cNvPr id="20486" name="Rectangle 6"/>
          <p:cNvSpPr>
            <a:spLocks/>
          </p:cNvSpPr>
          <p:nvPr/>
        </p:nvSpPr>
        <p:spPr bwMode="auto">
          <a:xfrm>
            <a:off x="3783013" y="5041900"/>
            <a:ext cx="584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à :</a:t>
            </a:r>
          </a:p>
        </p:txBody>
      </p:sp>
      <p:sp>
        <p:nvSpPr>
          <p:cNvPr id="20489" name="Rectangle 9"/>
          <p:cNvSpPr>
            <a:spLocks/>
          </p:cNvSpPr>
          <p:nvPr/>
        </p:nvSpPr>
        <p:spPr bwMode="auto">
          <a:xfrm>
            <a:off x="2994025" y="5880100"/>
            <a:ext cx="1325563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donc :</a:t>
            </a:r>
          </a:p>
        </p:txBody>
      </p:sp>
      <p:sp>
        <p:nvSpPr>
          <p:cNvPr id="20490" name="Rectangle 10"/>
          <p:cNvSpPr>
            <a:spLocks/>
          </p:cNvSpPr>
          <p:nvPr/>
        </p:nvSpPr>
        <p:spPr bwMode="auto">
          <a:xfrm>
            <a:off x="1588" y="6858000"/>
            <a:ext cx="6921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dirty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Le travail </a:t>
            </a:r>
            <a:r>
              <a:rPr lang="en-US" dirty="0" err="1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néceessaire</a:t>
            </a:r>
            <a:r>
              <a:rPr lang="en-US" dirty="0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pour </a:t>
            </a:r>
            <a:r>
              <a:rPr lang="en-US" dirty="0" err="1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cela</a:t>
            </a:r>
            <a:r>
              <a:rPr lang="en-US" dirty="0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est</a:t>
            </a:r>
            <a:r>
              <a:rPr lang="en-US" dirty="0" smtClean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rPr>
              <a:t>:</a:t>
            </a:r>
            <a:endParaRPr lang="en-US" dirty="0">
              <a:solidFill>
                <a:schemeClr val="tx1"/>
              </a:solidFill>
              <a:latin typeface="Noteworthy Light" charset="0"/>
              <a:ea typeface="ＭＳ Ｐゴシック" charset="0"/>
              <a:cs typeface="Noteworthy Light" charset="0"/>
              <a:sym typeface="Noteworthy Light" charset="0"/>
            </a:endParaRPr>
          </a:p>
        </p:txBody>
      </p:sp>
      <p:pic>
        <p:nvPicPr>
          <p:cNvPr id="2049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8585200"/>
            <a:ext cx="6019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5" name="Group 15"/>
          <p:cNvGrpSpPr>
            <a:grpSpLocks/>
          </p:cNvGrpSpPr>
          <p:nvPr/>
        </p:nvGrpSpPr>
        <p:grpSpPr bwMode="auto">
          <a:xfrm>
            <a:off x="7378700" y="8070850"/>
            <a:ext cx="5676900" cy="1663700"/>
            <a:chOff x="0" y="0"/>
            <a:chExt cx="3576" cy="1048"/>
          </a:xfrm>
        </p:grpSpPr>
        <p:sp>
          <p:nvSpPr>
            <p:cNvPr id="20493" name="Rectangle 13"/>
            <p:cNvSpPr>
              <a:spLocks/>
            </p:cNvSpPr>
            <p:nvPr/>
          </p:nvSpPr>
          <p:spPr bwMode="auto">
            <a:xfrm>
              <a:off x="48" y="40"/>
              <a:ext cx="3472" cy="8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0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La différence de pression entre le ballon et la pression du fluide à l</a:t>
              </a:r>
              <a:r>
                <a:rPr lang="ja-JP" altLang="en-US" sz="200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0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extérieur du ballon est directement proportionnelle à la tension superficielle</a:t>
              </a:r>
            </a:p>
          </p:txBody>
        </p:sp>
        <p:pic>
          <p:nvPicPr>
            <p:cNvPr id="20494" name="Picture 14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76" cy="1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70760"/>
              </p:ext>
            </p:extLst>
          </p:nvPr>
        </p:nvGraphicFramePr>
        <p:xfrm>
          <a:off x="4341813" y="4090988"/>
          <a:ext cx="1117600" cy="107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0" name="Equation" r:id="rId7" imgW="419100" imgH="393700" progId="Equation.DSMT4">
                  <p:embed/>
                </p:oleObj>
              </mc:Choice>
              <mc:Fallback>
                <p:oleObj name="Equation" r:id="rId7" imgW="4191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1813" y="4090988"/>
                        <a:ext cx="1117600" cy="1073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003409"/>
              </p:ext>
            </p:extLst>
          </p:nvPr>
        </p:nvGraphicFramePr>
        <p:xfrm>
          <a:off x="4342160" y="5020816"/>
          <a:ext cx="22002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1" name="Equation" r:id="rId9" imgW="825500" imgH="393700" progId="Equation.DSMT4">
                  <p:embed/>
                </p:oleObj>
              </mc:Choice>
              <mc:Fallback>
                <p:oleObj name="Equation" r:id="rId9" imgW="8255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2160" y="5020816"/>
                        <a:ext cx="2200275" cy="107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50771"/>
              </p:ext>
            </p:extLst>
          </p:nvPr>
        </p:nvGraphicFramePr>
        <p:xfrm>
          <a:off x="4342160" y="6172944"/>
          <a:ext cx="14906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2" name="Equation" r:id="rId11" imgW="558800" imgH="203200" progId="Equation.DSMT4">
                  <p:embed/>
                </p:oleObj>
              </mc:Choice>
              <mc:Fallback>
                <p:oleObj name="Equation" r:id="rId11" imgW="5588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42160" y="6172944"/>
                        <a:ext cx="1490662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997168"/>
              </p:ext>
            </p:extLst>
          </p:nvPr>
        </p:nvGraphicFramePr>
        <p:xfrm>
          <a:off x="2330450" y="8045450"/>
          <a:ext cx="22018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3" name="Equation" r:id="rId13" imgW="825500" imgH="203200" progId="Equation.DSMT4">
                  <p:embed/>
                </p:oleObj>
              </mc:Choice>
              <mc:Fallback>
                <p:oleObj name="Equation" r:id="rId13" imgW="8255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0450" y="8045450"/>
                        <a:ext cx="220186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Viscosité</a:t>
            </a:r>
            <a:br>
              <a:rPr lang="en-US"/>
            </a:br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70000" y="2768600"/>
            <a:ext cx="10464800" cy="4700488"/>
          </a:xfrm>
          <a:ln/>
        </p:spPr>
        <p:txBody>
          <a:bodyPr/>
          <a:lstStyle/>
          <a:p>
            <a:pPr marL="317500" indent="0">
              <a:buNone/>
            </a:pPr>
            <a:r>
              <a:rPr lang="en-US" dirty="0"/>
              <a:t>Sous l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effet</a:t>
            </a:r>
            <a:r>
              <a:rPr lang="en-US" dirty="0"/>
              <a:t> des forces d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interactions entre les </a:t>
            </a:r>
            <a:r>
              <a:rPr lang="en-US" dirty="0" err="1"/>
              <a:t>molécules</a:t>
            </a:r>
            <a:r>
              <a:rPr lang="en-US" dirty="0"/>
              <a:t> de </a:t>
            </a:r>
            <a:r>
              <a:rPr lang="en-US" dirty="0" err="1"/>
              <a:t>fluide</a:t>
            </a:r>
            <a:r>
              <a:rPr lang="en-US" dirty="0"/>
              <a:t> et des forces d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interactions entre les </a:t>
            </a:r>
            <a:r>
              <a:rPr lang="en-US" dirty="0" err="1"/>
              <a:t>molécules</a:t>
            </a:r>
            <a:r>
              <a:rPr lang="en-US" dirty="0"/>
              <a:t> de </a:t>
            </a:r>
            <a:r>
              <a:rPr lang="en-US" dirty="0" err="1"/>
              <a:t>fluide</a:t>
            </a:r>
            <a:r>
              <a:rPr lang="en-US" dirty="0"/>
              <a:t> et </a:t>
            </a:r>
            <a:r>
              <a:rPr lang="en-US" dirty="0" err="1"/>
              <a:t>celles</a:t>
            </a:r>
            <a:r>
              <a:rPr lang="en-US" dirty="0"/>
              <a:t> de la </a:t>
            </a:r>
            <a:r>
              <a:rPr lang="en-US" dirty="0" err="1"/>
              <a:t>paroi</a:t>
            </a:r>
            <a:r>
              <a:rPr lang="en-US" dirty="0"/>
              <a:t>,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molécule</a:t>
            </a:r>
            <a:r>
              <a:rPr lang="en-US" dirty="0"/>
              <a:t> de </a:t>
            </a:r>
            <a:r>
              <a:rPr lang="en-US" dirty="0" err="1"/>
              <a:t>fluide</a:t>
            </a:r>
            <a:r>
              <a:rPr lang="en-US" dirty="0"/>
              <a:t> ne s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 err="1"/>
              <a:t>écoule</a:t>
            </a:r>
            <a:r>
              <a:rPr lang="en-US" dirty="0"/>
              <a:t> pas </a:t>
            </a:r>
            <a:r>
              <a:rPr lang="en-US" dirty="0" err="1"/>
              <a:t>à</a:t>
            </a:r>
            <a:r>
              <a:rPr lang="en-US" dirty="0"/>
              <a:t> la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vitesse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1245816" y="-379784"/>
            <a:ext cx="10464800" cy="1955800"/>
          </a:xfrm>
          <a:ln/>
        </p:spPr>
        <p:txBody>
          <a:bodyPr/>
          <a:lstStyle/>
          <a:p>
            <a:r>
              <a:rPr lang="en-US" dirty="0" err="1" smtClean="0"/>
              <a:t>Viscosité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1778000"/>
            <a:ext cx="79121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Line 5"/>
          <p:cNvSpPr>
            <a:spLocks noChangeShapeType="1"/>
          </p:cNvSpPr>
          <p:nvPr/>
        </p:nvSpPr>
        <p:spPr bwMode="auto">
          <a:xfrm flipH="1">
            <a:off x="2820169" y="7389813"/>
            <a:ext cx="1401763" cy="0"/>
          </a:xfrm>
          <a:prstGeom prst="line">
            <a:avLst/>
          </a:prstGeom>
          <a:noFill/>
          <a:ln w="38100" cap="flat">
            <a:solidFill>
              <a:srgbClr val="29008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fr-FR"/>
          </a:p>
        </p:txBody>
      </p:sp>
      <p:grpSp>
        <p:nvGrpSpPr>
          <p:cNvPr id="22536" name="Group 8"/>
          <p:cNvGrpSpPr>
            <a:grpSpLocks/>
          </p:cNvGrpSpPr>
          <p:nvPr/>
        </p:nvGrpSpPr>
        <p:grpSpPr bwMode="auto">
          <a:xfrm>
            <a:off x="6680200" y="1365250"/>
            <a:ext cx="5676900" cy="1435100"/>
            <a:chOff x="0" y="0"/>
            <a:chExt cx="3576" cy="904"/>
          </a:xfrm>
        </p:grpSpPr>
        <p:sp>
          <p:nvSpPr>
            <p:cNvPr id="22534" name="Rectangle 6"/>
            <p:cNvSpPr>
              <a:spLocks/>
            </p:cNvSpPr>
            <p:nvPr/>
          </p:nvSpPr>
          <p:spPr bwMode="auto">
            <a:xfrm>
              <a:off x="48" y="40"/>
              <a:ext cx="3472" cy="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La définition même de fluide fait appel à la notion de viscosité.</a:t>
              </a:r>
            </a:p>
          </p:txBody>
        </p:sp>
        <p:pic>
          <p:nvPicPr>
            <p:cNvPr id="22535" name="Picture 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76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39" name="Group 11"/>
          <p:cNvGrpSpPr>
            <a:grpSpLocks/>
          </p:cNvGrpSpPr>
          <p:nvPr/>
        </p:nvGrpSpPr>
        <p:grpSpPr bwMode="auto">
          <a:xfrm>
            <a:off x="6807200" y="6527800"/>
            <a:ext cx="5676900" cy="2222500"/>
            <a:chOff x="0" y="0"/>
            <a:chExt cx="3576" cy="1400"/>
          </a:xfrm>
        </p:grpSpPr>
        <p:sp>
          <p:nvSpPr>
            <p:cNvPr id="22537" name="Rectangle 9"/>
            <p:cNvSpPr>
              <a:spLocks/>
            </p:cNvSpPr>
            <p:nvPr/>
          </p:nvSpPr>
          <p:spPr bwMode="auto">
            <a:xfrm>
              <a:off x="48" y="40"/>
              <a:ext cx="3472" cy="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2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Quand la relation entre tension de cisaillement et déplacement est linéaire, on dit que le fluide est newtonien, dans le cas contraire on parle d</a:t>
              </a:r>
              <a:r>
                <a:rPr lang="ja-JP" altLang="en-US" sz="220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2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un fluide non newtonien. </a:t>
              </a:r>
            </a:p>
          </p:txBody>
        </p:sp>
        <p:pic>
          <p:nvPicPr>
            <p:cNvPr id="22538" name="Picture 10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76" cy="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79223"/>
              </p:ext>
            </p:extLst>
          </p:nvPr>
        </p:nvGraphicFramePr>
        <p:xfrm>
          <a:off x="813768" y="6677000"/>
          <a:ext cx="1584176" cy="1375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74" name="Equation" r:id="rId6" imgW="482600" imgH="419100" progId="Equation.DSMT4">
                  <p:embed/>
                </p:oleObj>
              </mc:Choice>
              <mc:Fallback>
                <p:oleObj name="Equation" r:id="rId6" imgW="4826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3768" y="6677000"/>
                        <a:ext cx="1584176" cy="1375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913524"/>
              </p:ext>
            </p:extLst>
          </p:nvPr>
        </p:nvGraphicFramePr>
        <p:xfrm>
          <a:off x="4414168" y="6749008"/>
          <a:ext cx="1876425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75" name="Equation" r:id="rId8" imgW="571500" imgH="419100" progId="Equation.DSMT4">
                  <p:embed/>
                </p:oleObj>
              </mc:Choice>
              <mc:Fallback>
                <p:oleObj name="Equation" r:id="rId8" imgW="5715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14168" y="6749008"/>
                        <a:ext cx="1876425" cy="1374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1245816" y="268288"/>
            <a:ext cx="10464800" cy="1584176"/>
          </a:xfrm>
          <a:ln/>
        </p:spPr>
        <p:txBody>
          <a:bodyPr/>
          <a:lstStyle/>
          <a:p>
            <a:r>
              <a:rPr lang="en-US" dirty="0" err="1"/>
              <a:t>Capillarité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3096"/>
            <a:ext cx="74422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57" name="Group 5"/>
          <p:cNvGrpSpPr>
            <a:grpSpLocks/>
          </p:cNvGrpSpPr>
          <p:nvPr/>
        </p:nvGrpSpPr>
        <p:grpSpPr bwMode="auto">
          <a:xfrm>
            <a:off x="7150472" y="2716560"/>
            <a:ext cx="5676900" cy="2425701"/>
            <a:chOff x="-21" y="-19"/>
            <a:chExt cx="3576" cy="1528"/>
          </a:xfrm>
        </p:grpSpPr>
        <p:sp>
          <p:nvSpPr>
            <p:cNvPr id="23555" name="Rectangle 3"/>
            <p:cNvSpPr>
              <a:spLocks/>
            </p:cNvSpPr>
            <p:nvPr/>
          </p:nvSpPr>
          <p:spPr bwMode="auto">
            <a:xfrm>
              <a:off x="48" y="40"/>
              <a:ext cx="3472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À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instant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où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le tube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touche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la surface de l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eau, les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molécules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de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sa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paroi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interne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attirent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les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molécules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d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eau.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Cela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provoque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une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courbure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de la surface du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liquide</a:t>
              </a:r>
              <a:endParaRPr lang="en-US" sz="2400" dirty="0">
                <a:solidFill>
                  <a:schemeClr val="tx1"/>
                </a:solidFill>
                <a:latin typeface="Noteworthy Light" charset="0"/>
                <a:ea typeface="ＭＳ Ｐゴシック" charset="0"/>
                <a:cs typeface="Noteworthy Light" charset="0"/>
                <a:sym typeface="Noteworthy Light" charset="0"/>
              </a:endParaRPr>
            </a:p>
          </p:txBody>
        </p:sp>
        <p:pic>
          <p:nvPicPr>
            <p:cNvPr id="23556" name="Picture 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1" y="-19"/>
              <a:ext cx="3576" cy="1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813398"/>
              </p:ext>
            </p:extLst>
          </p:nvPr>
        </p:nvGraphicFramePr>
        <p:xfrm>
          <a:off x="4233863" y="7685088"/>
          <a:ext cx="74898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5" name="Equation" r:id="rId5" imgW="2641600" imgH="203200" progId="Equation.DSMT4">
                  <p:embed/>
                </p:oleObj>
              </mc:Choice>
              <mc:Fallback>
                <p:oleObj name="Equation" r:id="rId5" imgW="26416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3863" y="7685088"/>
                        <a:ext cx="7489825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 bwMode="auto">
          <a:xfrm>
            <a:off x="5638304" y="6893024"/>
            <a:ext cx="3960440" cy="1656184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-554384" y="268288"/>
            <a:ext cx="10464800" cy="2438400"/>
          </a:xfrm>
          <a:ln/>
        </p:spPr>
        <p:txBody>
          <a:bodyPr/>
          <a:lstStyle/>
          <a:p>
            <a:r>
              <a:rPr lang="en-US" dirty="0" err="1"/>
              <a:t>Capillarité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2044700"/>
            <a:ext cx="2870200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4419600"/>
            <a:ext cx="3811587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95663"/>
              </p:ext>
            </p:extLst>
          </p:nvPr>
        </p:nvGraphicFramePr>
        <p:xfrm>
          <a:off x="4665663" y="3221038"/>
          <a:ext cx="7488237" cy="309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42" name="Equation" r:id="rId5" imgW="2641600" imgH="1092200" progId="Equation.DSMT4">
                  <p:embed/>
                </p:oleObj>
              </mc:Choice>
              <mc:Fallback>
                <p:oleObj name="Equation" r:id="rId5" imgW="2641600" imgH="109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5663" y="3221038"/>
                        <a:ext cx="7488237" cy="309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251"/>
              </p:ext>
            </p:extLst>
          </p:nvPr>
        </p:nvGraphicFramePr>
        <p:xfrm>
          <a:off x="5854328" y="6893024"/>
          <a:ext cx="3306762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43" name="Equation" r:id="rId7" imgW="914400" imgH="431800" progId="Equation.DSMT4">
                  <p:embed/>
                </p:oleObj>
              </mc:Choice>
              <mc:Fallback>
                <p:oleObj name="Equation" r:id="rId7" imgW="9144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54328" y="6893024"/>
                        <a:ext cx="3306762" cy="156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913" y="412304"/>
            <a:ext cx="4771756" cy="273630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Relation masse/volume 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927100" y="2425700"/>
            <a:ext cx="5676900" cy="1435100"/>
            <a:chOff x="0" y="0"/>
            <a:chExt cx="3576" cy="904"/>
          </a:xfrm>
        </p:grpSpPr>
        <p:sp>
          <p:nvSpPr>
            <p:cNvPr id="25602" name="Rectangle 2"/>
            <p:cNvSpPr>
              <a:spLocks/>
            </p:cNvSpPr>
            <p:nvPr/>
          </p:nvSpPr>
          <p:spPr bwMode="auto">
            <a:xfrm>
              <a:off x="48" y="40"/>
              <a:ext cx="3472" cy="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Volume total V est la sommation des volumes des solides et le volume des pores</a:t>
              </a:r>
            </a:p>
          </p:txBody>
        </p:sp>
        <p:pic>
          <p:nvPicPr>
            <p:cNvPr id="25603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76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08" name="Group 8"/>
          <p:cNvGrpSpPr>
            <a:grpSpLocks/>
          </p:cNvGrpSpPr>
          <p:nvPr/>
        </p:nvGrpSpPr>
        <p:grpSpPr bwMode="auto">
          <a:xfrm>
            <a:off x="927100" y="4279900"/>
            <a:ext cx="5676900" cy="1435100"/>
            <a:chOff x="0" y="0"/>
            <a:chExt cx="3576" cy="904"/>
          </a:xfrm>
        </p:grpSpPr>
        <p:sp>
          <p:nvSpPr>
            <p:cNvPr id="25606" name="Rectangle 6"/>
            <p:cNvSpPr>
              <a:spLocks/>
            </p:cNvSpPr>
            <p:nvPr/>
          </p:nvSpPr>
          <p:spPr bwMode="auto">
            <a:xfrm>
              <a:off x="48" y="40"/>
              <a:ext cx="3472" cy="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Le volume de pores peut être rempli par l</a:t>
              </a:r>
              <a:r>
                <a:rPr lang="ja-JP" altLang="en-US" sz="240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eau et par l</a:t>
              </a:r>
              <a:r>
                <a:rPr lang="ja-JP" altLang="en-US" sz="240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air</a:t>
              </a:r>
            </a:p>
          </p:txBody>
        </p:sp>
        <p:pic>
          <p:nvPicPr>
            <p:cNvPr id="25607" name="Picture 7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76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61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33"/>
          <a:stretch>
            <a:fillRect/>
          </a:stretch>
        </p:blipFill>
        <p:spPr bwMode="auto">
          <a:xfrm>
            <a:off x="4343400" y="6408738"/>
            <a:ext cx="3960813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368415"/>
              </p:ext>
            </p:extLst>
          </p:nvPr>
        </p:nvGraphicFramePr>
        <p:xfrm>
          <a:off x="7654528" y="2572544"/>
          <a:ext cx="198022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2" name="Equation" r:id="rId5" imgW="698500" imgH="228600" progId="Equation.DSMT4">
                  <p:embed/>
                </p:oleObj>
              </mc:Choice>
              <mc:Fallback>
                <p:oleObj name="Equation" r:id="rId5" imgW="6985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54528" y="2572544"/>
                        <a:ext cx="1980220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051391"/>
              </p:ext>
            </p:extLst>
          </p:nvPr>
        </p:nvGraphicFramePr>
        <p:xfrm>
          <a:off x="7510512" y="4300736"/>
          <a:ext cx="31305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3" name="Equation" r:id="rId7" imgW="1104900" imgH="457200" progId="Equation.DSMT4">
                  <p:embed/>
                </p:oleObj>
              </mc:Choice>
              <mc:Fallback>
                <p:oleObj name="Equation" r:id="rId7" imgW="11049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0512" y="4300736"/>
                        <a:ext cx="313055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Relation masse/volume 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814388" y="3076575"/>
            <a:ext cx="5943600" cy="2425700"/>
            <a:chOff x="1" y="-22"/>
            <a:chExt cx="3744" cy="1528"/>
          </a:xfrm>
        </p:grpSpPr>
        <p:sp>
          <p:nvSpPr>
            <p:cNvPr id="26626" name="Rectangle 2"/>
            <p:cNvSpPr>
              <a:spLocks/>
            </p:cNvSpPr>
            <p:nvPr/>
          </p:nvSpPr>
          <p:spPr bwMode="auto">
            <a:xfrm>
              <a:off x="48" y="40"/>
              <a:ext cx="3640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De la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même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façon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que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le volume,  la masse d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un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échantillon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de sol non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saturé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est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composée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de  la masse des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solides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,   la masse de l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eau et de l</a:t>
              </a:r>
              <a:r>
                <a:rPr lang="ja-JP" altLang="en-US" sz="2400" dirty="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air </a:t>
              </a:r>
              <a:r>
                <a:rPr lang="en-US" sz="2400" dirty="0" err="1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dans</a:t>
              </a:r>
              <a:r>
                <a:rPr lang="en-US" sz="2400" dirty="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 le sol.</a:t>
              </a:r>
            </a:p>
          </p:txBody>
        </p:sp>
        <p:pic>
          <p:nvPicPr>
            <p:cNvPr id="2662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" y="-22"/>
              <a:ext cx="3744" cy="1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631" name="Group 7"/>
          <p:cNvGrpSpPr>
            <a:grpSpLocks/>
          </p:cNvGrpSpPr>
          <p:nvPr/>
        </p:nvGrpSpPr>
        <p:grpSpPr bwMode="auto">
          <a:xfrm>
            <a:off x="3810000" y="7258050"/>
            <a:ext cx="4076700" cy="939800"/>
            <a:chOff x="0" y="0"/>
            <a:chExt cx="2568" cy="592"/>
          </a:xfrm>
        </p:grpSpPr>
        <p:sp>
          <p:nvSpPr>
            <p:cNvPr id="26629" name="Rectangle 5"/>
            <p:cNvSpPr>
              <a:spLocks/>
            </p:cNvSpPr>
            <p:nvPr/>
          </p:nvSpPr>
          <p:spPr bwMode="auto">
            <a:xfrm>
              <a:off x="48" y="40"/>
              <a:ext cx="2464" cy="3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La masse d</a:t>
              </a:r>
              <a:r>
                <a:rPr lang="ja-JP" altLang="en-US" sz="2400">
                  <a:solidFill>
                    <a:schemeClr val="tx1"/>
                  </a:solidFill>
                  <a:latin typeface="Arial"/>
                  <a:ea typeface="ＭＳ Ｐゴシック" charset="0"/>
                  <a:cs typeface="Noteworthy Light" charset="0"/>
                  <a:sym typeface="Noteworthy Light" charset="0"/>
                </a:rPr>
                <a:t>’</a:t>
              </a:r>
              <a:r>
                <a:rPr lang="en-US" sz="24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air étant négligeable</a:t>
              </a:r>
            </a:p>
          </p:txBody>
        </p:sp>
        <p:pic>
          <p:nvPicPr>
            <p:cNvPr id="26630" name="Picture 6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568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171618"/>
              </p:ext>
            </p:extLst>
          </p:nvPr>
        </p:nvGraphicFramePr>
        <p:xfrm>
          <a:off x="7078464" y="3724672"/>
          <a:ext cx="523695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4" name="Equation" r:id="rId5" imgW="1231900" imgH="203200" progId="Equation.DSMT4">
                  <p:embed/>
                </p:oleObj>
              </mc:Choice>
              <mc:Fallback>
                <p:oleObj name="Equation" r:id="rId5" imgW="12319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78464" y="3724672"/>
                        <a:ext cx="5236950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667351"/>
              </p:ext>
            </p:extLst>
          </p:nvPr>
        </p:nvGraphicFramePr>
        <p:xfrm>
          <a:off x="4054128" y="6388968"/>
          <a:ext cx="36718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5" name="Equation" r:id="rId7" imgW="863600" imgH="203200" progId="Equation.DSMT4">
                  <p:embed/>
                </p:oleObj>
              </mc:Choice>
              <mc:Fallback>
                <p:oleObj name="Equation" r:id="rId7" imgW="8636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54128" y="6388968"/>
                        <a:ext cx="3671887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000" dirty="0" smtClean="0"/>
              <a:t>Différents états de l’eau dans le sol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45816" y="1996480"/>
            <a:ext cx="6168504" cy="5715000"/>
          </a:xfrm>
        </p:spPr>
        <p:txBody>
          <a:bodyPr/>
          <a:lstStyle/>
          <a:p>
            <a:r>
              <a:rPr lang="fr-FR" dirty="0" smtClean="0"/>
              <a:t>Eau de constitution </a:t>
            </a:r>
          </a:p>
          <a:p>
            <a:r>
              <a:rPr lang="fr-FR" dirty="0" smtClean="0"/>
              <a:t>Eau liée ou adsorbée</a:t>
            </a:r>
          </a:p>
          <a:p>
            <a:r>
              <a:rPr lang="fr-FR" dirty="0" smtClean="0"/>
              <a:t>Eau interstitielle</a:t>
            </a:r>
          </a:p>
          <a:p>
            <a:pPr lvl="1"/>
            <a:r>
              <a:rPr lang="fr-FR" dirty="0" smtClean="0"/>
              <a:t>Capillaire</a:t>
            </a:r>
          </a:p>
          <a:p>
            <a:pPr lvl="1"/>
            <a:r>
              <a:rPr lang="fr-FR" dirty="0" smtClean="0"/>
              <a:t>Libre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31" y="7181056"/>
            <a:ext cx="7344817" cy="223721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56" y="2572543"/>
            <a:ext cx="5328592" cy="46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769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320107" y="8886613"/>
            <a:ext cx="2709333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1pPr>
            <a:lvl2pPr marL="1056623" indent="-406394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2pPr>
            <a:lvl3pPr marL="1625575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3pPr>
            <a:lvl4pPr marL="227580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4pPr>
            <a:lvl5pPr marL="292603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9pPr>
          </a:lstStyle>
          <a:p>
            <a:pPr>
              <a:defRPr/>
            </a:pPr>
            <a:fld id="{DCB4CBDB-94C9-4332-95C8-1A1D6801229E}" type="slidenum">
              <a:rPr lang="fr-FR" sz="2000">
                <a:solidFill>
                  <a:srgbClr val="66FFFF"/>
                </a:solidFill>
              </a:rPr>
              <a:pPr>
                <a:defRPr/>
              </a:pPr>
              <a:t>14</a:t>
            </a:fld>
            <a:endParaRPr lang="fr-FR" sz="2000">
              <a:solidFill>
                <a:srgbClr val="66FFFF"/>
              </a:solidFill>
            </a:endParaRP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562188" y="589281"/>
            <a:ext cx="12031697" cy="1625600"/>
          </a:xfrm>
        </p:spPr>
        <p:txBody>
          <a:bodyPr/>
          <a:lstStyle/>
          <a:p>
            <a:r>
              <a:rPr lang="en-US" sz="6000" dirty="0"/>
              <a:t>Relations Air – Eau </a:t>
            </a:r>
            <a:r>
              <a:rPr lang="en-US" sz="6000" dirty="0" err="1"/>
              <a:t>dans</a:t>
            </a:r>
            <a:r>
              <a:rPr lang="en-US" sz="6000" dirty="0"/>
              <a:t> la zone </a:t>
            </a:r>
            <a:r>
              <a:rPr lang="en-US" sz="6000" dirty="0" err="1"/>
              <a:t>vadose</a:t>
            </a:r>
            <a:r>
              <a:rPr lang="en-US" sz="6000" dirty="0"/>
              <a:t/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1098761" name="Line 9"/>
          <p:cNvSpPr>
            <a:spLocks noChangeShapeType="1"/>
          </p:cNvSpPr>
          <p:nvPr/>
        </p:nvSpPr>
        <p:spPr bwMode="auto">
          <a:xfrm flipV="1">
            <a:off x="758613" y="8870810"/>
            <a:ext cx="11812693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>
              <a:ea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44784" y="1803966"/>
            <a:ext cx="6561672" cy="6804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None/>
              <a:defRPr/>
            </a:pPr>
            <a:r>
              <a:rPr lang="en-US" sz="3600" dirty="0"/>
              <a:t>S</a:t>
            </a:r>
            <a:r>
              <a:rPr lang="en-US" sz="3600" dirty="0" smtClean="0"/>
              <a:t>aturation :</a:t>
            </a:r>
          </a:p>
          <a:p>
            <a:pPr lvl="1">
              <a:defRPr/>
            </a:pPr>
            <a:r>
              <a:rPr lang="en-US" sz="3600" dirty="0" smtClean="0"/>
              <a:t>Phase </a:t>
            </a:r>
            <a:r>
              <a:rPr lang="en-US" sz="3600" dirty="0" err="1" smtClean="0"/>
              <a:t>liquide</a:t>
            </a:r>
            <a:r>
              <a:rPr lang="en-US" sz="3600" dirty="0" smtClean="0"/>
              <a:t> continue</a:t>
            </a:r>
          </a:p>
          <a:p>
            <a:pPr lvl="1">
              <a:defRPr/>
            </a:pPr>
            <a:r>
              <a:rPr lang="en-US" sz="3600" dirty="0" smtClean="0"/>
              <a:t>Air </a:t>
            </a:r>
            <a:r>
              <a:rPr lang="en-US" sz="3600" dirty="0" err="1" smtClean="0"/>
              <a:t>trappé</a:t>
            </a:r>
            <a:endParaRPr lang="en-US" sz="3600" dirty="0" smtClean="0"/>
          </a:p>
          <a:p>
            <a:pPr lvl="1">
              <a:defRPr/>
            </a:pPr>
            <a:r>
              <a:rPr lang="en-US" sz="3600" dirty="0" err="1" smtClean="0"/>
              <a:t>Écoulement</a:t>
            </a:r>
            <a:r>
              <a:rPr lang="en-US" sz="3600" dirty="0" smtClean="0"/>
              <a:t> </a:t>
            </a:r>
            <a:r>
              <a:rPr lang="en-US" sz="3600" dirty="0" err="1" smtClean="0"/>
              <a:t>gravitationnel</a:t>
            </a:r>
            <a:endParaRPr lang="en-US" sz="3600" dirty="0" smtClean="0"/>
          </a:p>
          <a:p>
            <a:pPr>
              <a:buFontTx/>
              <a:buNone/>
              <a:defRPr/>
            </a:pPr>
            <a:endParaRPr lang="en-US" sz="3600" dirty="0"/>
          </a:p>
        </p:txBody>
      </p:sp>
      <p:pic>
        <p:nvPicPr>
          <p:cNvPr id="9" name="Picture 4" descr="figure cours007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9459" y="2111024"/>
            <a:ext cx="5940214" cy="465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figure cours01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03468" y="6823005"/>
            <a:ext cx="1946204" cy="186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83697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320107" y="8886613"/>
            <a:ext cx="2709333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1pPr>
            <a:lvl2pPr marL="1056623" indent="-406394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2pPr>
            <a:lvl3pPr marL="1625575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3pPr>
            <a:lvl4pPr marL="227580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4pPr>
            <a:lvl5pPr marL="292603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9pPr>
          </a:lstStyle>
          <a:p>
            <a:pPr>
              <a:defRPr/>
            </a:pPr>
            <a:fld id="{E75AAD7B-5DC4-4A4F-93DC-743C3180268E}" type="slidenum">
              <a:rPr lang="fr-FR" sz="2000">
                <a:solidFill>
                  <a:srgbClr val="66FFFF"/>
                </a:solidFill>
              </a:rPr>
              <a:pPr>
                <a:defRPr/>
              </a:pPr>
              <a:t>15</a:t>
            </a:fld>
            <a:endParaRPr lang="fr-FR" sz="2000">
              <a:solidFill>
                <a:srgbClr val="66FFFF"/>
              </a:solidFill>
            </a:endParaRPr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562188" y="589281"/>
            <a:ext cx="12031697" cy="1625600"/>
          </a:xfrm>
        </p:spPr>
        <p:txBody>
          <a:bodyPr/>
          <a:lstStyle/>
          <a:p>
            <a:r>
              <a:rPr lang="en-US" sz="5100" b="1" dirty="0">
                <a:solidFill>
                  <a:srgbClr val="0000FF"/>
                </a:solidFill>
              </a:rPr>
              <a:t>Relations Air – Eau </a:t>
            </a:r>
            <a:r>
              <a:rPr lang="en-US" sz="5100" b="1" dirty="0" err="1">
                <a:solidFill>
                  <a:srgbClr val="0000FF"/>
                </a:solidFill>
              </a:rPr>
              <a:t>dans</a:t>
            </a:r>
            <a:r>
              <a:rPr lang="en-US" sz="5100" b="1" dirty="0">
                <a:solidFill>
                  <a:srgbClr val="0000FF"/>
                </a:solidFill>
              </a:rPr>
              <a:t> la zone </a:t>
            </a:r>
            <a:r>
              <a:rPr lang="en-US" sz="5100" b="1" dirty="0" err="1">
                <a:solidFill>
                  <a:srgbClr val="0000FF"/>
                </a:solidFill>
              </a:rPr>
              <a:t>vadose</a:t>
            </a:r>
            <a:r>
              <a:rPr lang="en-US" sz="5100" b="1" dirty="0">
                <a:solidFill>
                  <a:srgbClr val="0000FF"/>
                </a:solidFill>
              </a:rPr>
              <a:t/>
            </a:r>
            <a:br>
              <a:rPr lang="en-US" sz="5100" b="1" dirty="0">
                <a:solidFill>
                  <a:srgbClr val="0000FF"/>
                </a:solidFill>
              </a:rPr>
            </a:br>
            <a:endParaRPr lang="en-US" sz="5100" b="1" dirty="0">
              <a:solidFill>
                <a:srgbClr val="0000FF"/>
              </a:solidFill>
            </a:endParaRPr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4784" y="1803966"/>
            <a:ext cx="6570133" cy="6804942"/>
          </a:xfrm>
        </p:spPr>
        <p:txBody>
          <a:bodyPr/>
          <a:lstStyle/>
          <a:p>
            <a:pPr marL="266700" indent="0">
              <a:buNone/>
              <a:defRPr/>
            </a:pPr>
            <a:r>
              <a:rPr lang="en-US" sz="3100" b="1" dirty="0" err="1" smtClean="0">
                <a:solidFill>
                  <a:srgbClr val="000000"/>
                </a:solidFill>
              </a:rPr>
              <a:t>Près</a:t>
            </a:r>
            <a:r>
              <a:rPr lang="en-US" sz="3100" b="1" dirty="0" smtClean="0">
                <a:solidFill>
                  <a:srgbClr val="000000"/>
                </a:solidFill>
              </a:rPr>
              <a:t> </a:t>
            </a:r>
            <a:r>
              <a:rPr lang="en-US" sz="3100" b="1" dirty="0">
                <a:solidFill>
                  <a:srgbClr val="000000"/>
                </a:solidFill>
              </a:rPr>
              <a:t>de la </a:t>
            </a:r>
            <a:r>
              <a:rPr lang="en-US" sz="3100" b="1" dirty="0" err="1">
                <a:solidFill>
                  <a:srgbClr val="000000"/>
                </a:solidFill>
              </a:rPr>
              <a:t>capacité</a:t>
            </a:r>
            <a:r>
              <a:rPr lang="en-US" sz="3100" b="1" dirty="0">
                <a:solidFill>
                  <a:srgbClr val="000000"/>
                </a:solidFill>
              </a:rPr>
              <a:t> au </a:t>
            </a:r>
            <a:r>
              <a:rPr lang="en-US" sz="3100" b="1" dirty="0" smtClean="0">
                <a:solidFill>
                  <a:srgbClr val="000000"/>
                </a:solidFill>
              </a:rPr>
              <a:t>champ :</a:t>
            </a:r>
            <a:endParaRPr lang="en-US" sz="3100" b="1" dirty="0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en-US" sz="3100" dirty="0">
                <a:solidFill>
                  <a:srgbClr val="000000"/>
                </a:solidFill>
              </a:rPr>
              <a:t>Phases </a:t>
            </a:r>
            <a:r>
              <a:rPr lang="en-US" sz="3100" dirty="0" err="1" smtClean="0">
                <a:solidFill>
                  <a:srgbClr val="000000"/>
                </a:solidFill>
              </a:rPr>
              <a:t>liquide</a:t>
            </a:r>
            <a:r>
              <a:rPr lang="en-US" sz="3100" dirty="0" smtClean="0">
                <a:solidFill>
                  <a:srgbClr val="000000"/>
                </a:solidFill>
              </a:rPr>
              <a:t> et </a:t>
            </a:r>
            <a:r>
              <a:rPr lang="en-US" sz="3100" dirty="0" err="1">
                <a:solidFill>
                  <a:srgbClr val="000000"/>
                </a:solidFill>
              </a:rPr>
              <a:t>gaz</a:t>
            </a:r>
            <a:r>
              <a:rPr lang="en-US" sz="3100" dirty="0">
                <a:solidFill>
                  <a:srgbClr val="000000"/>
                </a:solidFill>
              </a:rPr>
              <a:t> continues</a:t>
            </a:r>
          </a:p>
          <a:p>
            <a:pPr lvl="1">
              <a:defRPr/>
            </a:pPr>
            <a:r>
              <a:rPr lang="en-US" sz="3100" dirty="0" err="1">
                <a:solidFill>
                  <a:srgbClr val="000000"/>
                </a:solidFill>
              </a:rPr>
              <a:t>Compétition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gravité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i="1" dirty="0" err="1">
                <a:solidFill>
                  <a:srgbClr val="000000"/>
                </a:solidFill>
              </a:rPr>
              <a:t>vs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capillarité</a:t>
            </a:r>
            <a:endParaRPr lang="en-US" sz="3100" dirty="0">
              <a:solidFill>
                <a:srgbClr val="000000"/>
              </a:solidFill>
            </a:endParaRPr>
          </a:p>
          <a:p>
            <a:pPr>
              <a:buFontTx/>
              <a:buNone/>
              <a:defRPr/>
            </a:pPr>
            <a:endParaRPr lang="en-US" sz="3100" dirty="0">
              <a:solidFill>
                <a:srgbClr val="000000"/>
              </a:solidFill>
            </a:endParaRPr>
          </a:p>
        </p:txBody>
      </p:sp>
      <p:pic>
        <p:nvPicPr>
          <p:cNvPr id="1118213" name="Picture 5" descr="figure cours008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9459" y="2111023"/>
            <a:ext cx="5940214" cy="4669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2" name="Picture 7" descr="figure cours01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03468" y="6823005"/>
            <a:ext cx="1946204" cy="186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8217" name="Line 9"/>
          <p:cNvSpPr>
            <a:spLocks noChangeShapeType="1"/>
          </p:cNvSpPr>
          <p:nvPr/>
        </p:nvSpPr>
        <p:spPr bwMode="auto">
          <a:xfrm flipV="1">
            <a:off x="758613" y="8870810"/>
            <a:ext cx="11812693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70176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320107" y="8886613"/>
            <a:ext cx="2709333" cy="65024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1pPr>
            <a:lvl2pPr marL="1056623" indent="-406394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2pPr>
            <a:lvl3pPr marL="1625575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3pPr>
            <a:lvl4pPr marL="227580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4pPr>
            <a:lvl5pPr marL="2926034" indent="-325115"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rgbClr val="FFFFFF"/>
                </a:solidFill>
                <a:latin typeface="Garamond" pitchFamily="18" charset="0"/>
                <a:ea typeface="MS PGothic" pitchFamily="34" charset="-128"/>
              </a:defRPr>
            </a:lvl9pPr>
          </a:lstStyle>
          <a:p>
            <a:pPr>
              <a:defRPr/>
            </a:pPr>
            <a:fld id="{1895DEE2-0AC2-4F03-9B76-67E97C7DC129}" type="slidenum">
              <a:rPr lang="fr-FR" sz="2000">
                <a:solidFill>
                  <a:srgbClr val="66FFFF"/>
                </a:solidFill>
              </a:rPr>
              <a:pPr>
                <a:defRPr/>
              </a:pPr>
              <a:t>16</a:t>
            </a:fld>
            <a:endParaRPr lang="fr-FR" sz="2000" dirty="0">
              <a:solidFill>
                <a:srgbClr val="66FFFF"/>
              </a:solidFill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562188" y="589281"/>
            <a:ext cx="12031697" cy="1625600"/>
          </a:xfrm>
        </p:spPr>
        <p:txBody>
          <a:bodyPr/>
          <a:lstStyle/>
          <a:p>
            <a:r>
              <a:rPr lang="en-US" sz="5100" b="1" dirty="0">
                <a:solidFill>
                  <a:srgbClr val="0000FF"/>
                </a:solidFill>
              </a:rPr>
              <a:t>Relations Air – Eau </a:t>
            </a:r>
            <a:r>
              <a:rPr lang="en-US" sz="5100" b="1" dirty="0" err="1">
                <a:solidFill>
                  <a:srgbClr val="0000FF"/>
                </a:solidFill>
              </a:rPr>
              <a:t>dans</a:t>
            </a:r>
            <a:r>
              <a:rPr lang="en-US" sz="5100" b="1" dirty="0">
                <a:solidFill>
                  <a:srgbClr val="0000FF"/>
                </a:solidFill>
              </a:rPr>
              <a:t> la zone </a:t>
            </a:r>
            <a:r>
              <a:rPr lang="en-US" sz="5100" b="1" dirty="0" err="1">
                <a:solidFill>
                  <a:srgbClr val="0000FF"/>
                </a:solidFill>
              </a:rPr>
              <a:t>vadose</a:t>
            </a:r>
            <a:r>
              <a:rPr lang="en-US" sz="5100" b="1" dirty="0">
                <a:solidFill>
                  <a:srgbClr val="0000FF"/>
                </a:solidFill>
              </a:rPr>
              <a:t/>
            </a:r>
            <a:br>
              <a:rPr lang="en-US" sz="5100" b="1" dirty="0">
                <a:solidFill>
                  <a:srgbClr val="0000FF"/>
                </a:solidFill>
              </a:rPr>
            </a:br>
            <a:endParaRPr lang="en-US" sz="5100" b="1" dirty="0">
              <a:solidFill>
                <a:srgbClr val="0000FF"/>
              </a:solidFill>
            </a:endParaRPr>
          </a:p>
        </p:txBody>
      </p:sp>
      <p:sp>
        <p:nvSpPr>
          <p:cNvPr id="1119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4784" y="1803966"/>
            <a:ext cx="6570133" cy="6804942"/>
          </a:xfrm>
        </p:spPr>
        <p:txBody>
          <a:bodyPr/>
          <a:lstStyle/>
          <a:p>
            <a:pPr marL="266700" indent="0">
              <a:buNone/>
              <a:defRPr/>
            </a:pPr>
            <a:r>
              <a:rPr lang="en-US" sz="31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Faible</a:t>
            </a:r>
            <a:r>
              <a:rPr lang="en-US" sz="31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saturation :</a:t>
            </a:r>
            <a:endParaRPr lang="en-US" sz="31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>
              <a:defRPr/>
            </a:pPr>
            <a:r>
              <a:rPr lang="en-US" sz="3100" dirty="0"/>
              <a:t>Phases </a:t>
            </a:r>
            <a:r>
              <a:rPr lang="en-US" sz="3100" dirty="0" err="1"/>
              <a:t>liquide</a:t>
            </a:r>
            <a:r>
              <a:rPr lang="en-US" sz="3100" dirty="0"/>
              <a:t> et </a:t>
            </a:r>
            <a:r>
              <a:rPr lang="en-US" sz="3100" dirty="0" err="1"/>
              <a:t>gaz</a:t>
            </a:r>
            <a:r>
              <a:rPr lang="en-US" sz="3100" dirty="0"/>
              <a:t> continues</a:t>
            </a:r>
          </a:p>
          <a:p>
            <a:pPr lvl="1">
              <a:defRPr/>
            </a:pPr>
            <a:r>
              <a:rPr lang="en-US" sz="3100" dirty="0" err="1"/>
              <a:t>Écoulement</a:t>
            </a:r>
            <a:r>
              <a:rPr lang="en-US" sz="3100" dirty="0"/>
              <a:t> lent (</a:t>
            </a:r>
            <a:r>
              <a:rPr lang="en-US" sz="3100" i="1" dirty="0" err="1"/>
              <a:t>induit</a:t>
            </a:r>
            <a:r>
              <a:rPr lang="en-US" sz="3100" i="1" dirty="0"/>
              <a:t> par gradient de </a:t>
            </a:r>
            <a:r>
              <a:rPr lang="en-US" sz="3100" i="1" dirty="0" err="1"/>
              <a:t>pression</a:t>
            </a:r>
            <a:r>
              <a:rPr lang="en-US" sz="3100" i="1" dirty="0"/>
              <a:t> – tension </a:t>
            </a:r>
            <a:r>
              <a:rPr lang="en-US" sz="3100" i="1" dirty="0" err="1"/>
              <a:t>capillaire</a:t>
            </a:r>
            <a:r>
              <a:rPr lang="en-US" sz="3100" dirty="0"/>
              <a:t>)</a:t>
            </a:r>
          </a:p>
          <a:p>
            <a:pPr>
              <a:buFontTx/>
              <a:buNone/>
              <a:defRPr/>
            </a:pPr>
            <a:endParaRPr lang="en-US" sz="3100" dirty="0"/>
          </a:p>
        </p:txBody>
      </p:sp>
      <p:pic>
        <p:nvPicPr>
          <p:cNvPr id="1119238" name="Picture 6" descr="figure cours009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9459" y="2111024"/>
            <a:ext cx="5940214" cy="469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7" descr="figure cours010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03468" y="6823005"/>
            <a:ext cx="1946204" cy="186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9241" name="Line 9"/>
          <p:cNvSpPr>
            <a:spLocks noChangeShapeType="1"/>
          </p:cNvSpPr>
          <p:nvPr/>
        </p:nvSpPr>
        <p:spPr bwMode="auto">
          <a:xfrm flipV="1">
            <a:off x="758613" y="8870810"/>
            <a:ext cx="11812693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24304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à coins arrondis 19"/>
          <p:cNvSpPr/>
          <p:nvPr/>
        </p:nvSpPr>
        <p:spPr bwMode="auto">
          <a:xfrm>
            <a:off x="4990232" y="5668888"/>
            <a:ext cx="2736304" cy="1368152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Teneur en Eau</a:t>
            </a:r>
          </a:p>
        </p:txBody>
      </p:sp>
      <p:grpSp>
        <p:nvGrpSpPr>
          <p:cNvPr id="27653" name="Group 5"/>
          <p:cNvGrpSpPr>
            <a:grpSpLocks/>
          </p:cNvGrpSpPr>
          <p:nvPr/>
        </p:nvGrpSpPr>
        <p:grpSpPr bwMode="auto">
          <a:xfrm>
            <a:off x="749300" y="2755900"/>
            <a:ext cx="4559300" cy="1181100"/>
            <a:chOff x="0" y="0"/>
            <a:chExt cx="2872" cy="744"/>
          </a:xfrm>
        </p:grpSpPr>
        <p:sp>
          <p:nvSpPr>
            <p:cNvPr id="27651" name="Rectangle 3"/>
            <p:cNvSpPr>
              <a:spLocks/>
            </p:cNvSpPr>
            <p:nvPr/>
          </p:nvSpPr>
          <p:spPr bwMode="auto">
            <a:xfrm>
              <a:off x="48" y="40"/>
              <a:ext cx="2768" cy="5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36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Teneur en eau massique</a:t>
              </a:r>
            </a:p>
          </p:txBody>
        </p:sp>
        <p:pic>
          <p:nvPicPr>
            <p:cNvPr id="27652" name="Picture 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872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57" name="Group 9"/>
          <p:cNvGrpSpPr>
            <a:grpSpLocks/>
          </p:cNvGrpSpPr>
          <p:nvPr/>
        </p:nvGrpSpPr>
        <p:grpSpPr bwMode="auto">
          <a:xfrm>
            <a:off x="6642100" y="2755900"/>
            <a:ext cx="4559300" cy="1181100"/>
            <a:chOff x="0" y="0"/>
            <a:chExt cx="2872" cy="744"/>
          </a:xfrm>
        </p:grpSpPr>
        <p:sp>
          <p:nvSpPr>
            <p:cNvPr id="27655" name="Rectangle 7"/>
            <p:cNvSpPr>
              <a:spLocks/>
            </p:cNvSpPr>
            <p:nvPr/>
          </p:nvSpPr>
          <p:spPr bwMode="auto">
            <a:xfrm>
              <a:off x="48" y="40"/>
              <a:ext cx="2768" cy="5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36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Teneur en eau volumique</a:t>
              </a:r>
            </a:p>
          </p:txBody>
        </p:sp>
        <p:pic>
          <p:nvPicPr>
            <p:cNvPr id="27656" name="Picture 8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872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63" name="Group 15"/>
          <p:cNvGrpSpPr>
            <a:grpSpLocks/>
          </p:cNvGrpSpPr>
          <p:nvPr/>
        </p:nvGrpSpPr>
        <p:grpSpPr bwMode="auto">
          <a:xfrm>
            <a:off x="317500" y="7518400"/>
            <a:ext cx="12687300" cy="1181100"/>
            <a:chOff x="0" y="0"/>
            <a:chExt cx="7992" cy="744"/>
          </a:xfrm>
        </p:grpSpPr>
        <p:sp>
          <p:nvSpPr>
            <p:cNvPr id="27661" name="Rectangle 13"/>
            <p:cNvSpPr>
              <a:spLocks/>
            </p:cNvSpPr>
            <p:nvPr/>
          </p:nvSpPr>
          <p:spPr bwMode="auto">
            <a:xfrm>
              <a:off x="48" y="40"/>
              <a:ext cx="7888" cy="5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r>
                <a:rPr lang="en-US" sz="3600">
                  <a:solidFill>
                    <a:schemeClr val="tx1"/>
                  </a:solidFill>
                  <a:latin typeface="Noteworthy Light" charset="0"/>
                  <a:ea typeface="ＭＳ Ｐゴシック" charset="0"/>
                  <a:cs typeface="Noteworthy Light" charset="0"/>
                  <a:sym typeface="Noteworthy Light" charset="0"/>
                </a:rPr>
                <a:t>Teneur en eau volumique est la forme de teneur en eau la plus utilisé</a:t>
              </a:r>
            </a:p>
          </p:txBody>
        </p:sp>
        <p:pic>
          <p:nvPicPr>
            <p:cNvPr id="27662" name="Picture 1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992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057742"/>
              </p:ext>
            </p:extLst>
          </p:nvPr>
        </p:nvGraphicFramePr>
        <p:xfrm>
          <a:off x="1533848" y="4012704"/>
          <a:ext cx="3240360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5" name="Equation" r:id="rId5" imgW="1295400" imgH="431800" progId="Equation.DSMT4">
                  <p:embed/>
                </p:oleObj>
              </mc:Choice>
              <mc:Fallback>
                <p:oleObj name="Equation" r:id="rId5" imgW="12954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3848" y="4012704"/>
                        <a:ext cx="3240360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011194"/>
              </p:ext>
            </p:extLst>
          </p:nvPr>
        </p:nvGraphicFramePr>
        <p:xfrm>
          <a:off x="7438504" y="4012704"/>
          <a:ext cx="3286704" cy="1152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6" name="Equation" r:id="rId7" imgW="1231900" imgH="431800" progId="Equation.DSMT4">
                  <p:embed/>
                </p:oleObj>
              </mc:Choice>
              <mc:Fallback>
                <p:oleObj name="Equation" r:id="rId7" imgW="12319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38504" y="4012704"/>
                        <a:ext cx="3286704" cy="1152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617085"/>
              </p:ext>
            </p:extLst>
          </p:nvPr>
        </p:nvGraphicFramePr>
        <p:xfrm>
          <a:off x="5278264" y="5596880"/>
          <a:ext cx="2414100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7" name="Equation" r:id="rId9" imgW="723900" imgH="431800" progId="Equation.DSMT4">
                  <p:embed/>
                </p:oleObj>
              </mc:Choice>
              <mc:Fallback>
                <p:oleObj name="Equation" r:id="rId9" imgW="7239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8264" y="5596880"/>
                        <a:ext cx="2414100" cy="1440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0"/>
            <a:ext cx="10464800" cy="2133600"/>
          </a:xfrm>
          <a:ln/>
        </p:spPr>
        <p:txBody>
          <a:bodyPr/>
          <a:lstStyle/>
          <a:p>
            <a:r>
              <a:rPr lang="en-US" sz="4800"/>
              <a:t>Capacité de stockage de l</a:t>
            </a:r>
            <a:r>
              <a:rPr lang="ja-JP" altLang="en-US" sz="4800">
                <a:latin typeface="Arial"/>
              </a:rPr>
              <a:t>’</a:t>
            </a:r>
            <a:r>
              <a:rPr lang="en-US" sz="4800"/>
              <a:t>eau dans le profil du sol</a:t>
            </a:r>
            <a:br>
              <a:rPr lang="en-US" sz="4800"/>
            </a:br>
            <a:endParaRPr lang="en-US" sz="480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2667000"/>
            <a:ext cx="7353300" cy="561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3182938"/>
            <a:ext cx="264160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0" y="4635500"/>
            <a:ext cx="29337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6032500"/>
            <a:ext cx="2501900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Capacité de stockage de l’eau dans le profil du sol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568" y="3004592"/>
            <a:ext cx="4527853" cy="34572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4" y="2716560"/>
            <a:ext cx="68453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6175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000" dirty="0"/>
              <a:t>Capacité de stockage de l’eau dans le profil du sol dans le temps</a:t>
            </a:r>
            <a:br>
              <a:rPr lang="fr-FR" sz="6000" dirty="0"/>
            </a:br>
            <a:endParaRPr lang="fr-FR" sz="6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392" y="2500536"/>
            <a:ext cx="4965700" cy="50292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911" y="3868688"/>
            <a:ext cx="393163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1154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la teneur en eau dans le sol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Méthode gravimétrique</a:t>
            </a:r>
          </a:p>
          <a:p>
            <a:r>
              <a:rPr lang="fr-FR" dirty="0"/>
              <a:t>Sonde à neutrons</a:t>
            </a:r>
          </a:p>
          <a:p>
            <a:r>
              <a:rPr lang="fr-FR" dirty="0"/>
              <a:t>Réflectométrie </a:t>
            </a:r>
            <a:r>
              <a:rPr lang="fr-FR" dirty="0" smtClean="0"/>
              <a:t>métallique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6300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gravimétrique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0000" y="2768600"/>
            <a:ext cx="4656336" cy="5715000"/>
          </a:xfrm>
        </p:spPr>
        <p:txBody>
          <a:bodyPr/>
          <a:lstStyle/>
          <a:p>
            <a:r>
              <a:rPr lang="fr-FR" dirty="0"/>
              <a:t>Cette méthode est basée sur la pesée des échantillons de sol prélevés sur le terrain.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464" y="3292624"/>
            <a:ext cx="4335640" cy="11521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0392" y="5092824"/>
            <a:ext cx="5854328" cy="30963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marL="266700" algn="l">
              <a:spcBef>
                <a:spcPts val="2400"/>
              </a:spcBef>
              <a:buSzPct val="171000"/>
            </a:pPr>
            <a:r>
              <a:rPr lang="fr-FR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rPr>
              <a:t>L’échantillon </a:t>
            </a:r>
            <a:r>
              <a:rPr lang="fr-FR" sz="28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rPr>
              <a:t>est pesé directement au champ au moment même de la procédure d’échantillonnage. Après, l’échantillon de sol est </a:t>
            </a:r>
            <a:r>
              <a:rPr lang="fr-FR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rPr>
              <a:t>séché </a:t>
            </a:r>
            <a:r>
              <a:rPr lang="fr-FR" sz="28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rPr>
              <a:t>à 105°C pour 24h.</a:t>
            </a:r>
          </a:p>
        </p:txBody>
      </p:sp>
    </p:spTree>
    <p:extLst>
      <p:ext uri="{BB962C8B-B14F-4D97-AF65-F5344CB8AC3E}">
        <p14:creationId xmlns:p14="http://schemas.microsoft.com/office/powerpoint/2010/main" val="134934999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Sonde à neutrons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088" y="2206504"/>
            <a:ext cx="5968752" cy="688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3460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022400"/>
          </a:xfrm>
        </p:spPr>
        <p:txBody>
          <a:bodyPr/>
          <a:lstStyle/>
          <a:p>
            <a:r>
              <a:rPr lang="fr-FR" dirty="0" smtClean="0"/>
              <a:t>Sonde à neutrons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2" y="4372744"/>
            <a:ext cx="5080000" cy="34544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89832" y="4588768"/>
            <a:ext cx="9591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Am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384" y="2644552"/>
            <a:ext cx="1988840" cy="2246652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 bwMode="auto">
          <a:xfrm flipV="1">
            <a:off x="5566296" y="3796680"/>
            <a:ext cx="1512168" cy="936104"/>
          </a:xfrm>
          <a:prstGeom prst="straightConnector1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" name="ZoneTexte 8"/>
          <p:cNvSpPr txBox="1"/>
          <p:nvPr/>
        </p:nvSpPr>
        <p:spPr>
          <a:xfrm>
            <a:off x="7006456" y="1924472"/>
            <a:ext cx="745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Be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 bwMode="auto">
          <a:xfrm>
            <a:off x="9166696" y="4804792"/>
            <a:ext cx="504056" cy="504056"/>
          </a:xfrm>
          <a:prstGeom prst="ellipse">
            <a:avLst/>
          </a:prstGeom>
          <a:gradFill flip="none" rotWithShape="1">
            <a:gsLst>
              <a:gs pos="53000">
                <a:srgbClr val="0000FF"/>
              </a:gs>
              <a:gs pos="100000">
                <a:srgbClr val="FFFFFF">
                  <a:alpha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01600">
              <a:srgbClr val="3366FF">
                <a:alpha val="75000"/>
              </a:srgbClr>
            </a:glo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1" name="Connecteur droit avec flèche 10"/>
          <p:cNvCxnSpPr/>
          <p:nvPr/>
        </p:nvCxnSpPr>
        <p:spPr bwMode="auto">
          <a:xfrm>
            <a:off x="7726536" y="3940696"/>
            <a:ext cx="1440160" cy="936104"/>
          </a:xfrm>
          <a:prstGeom prst="straightConnector1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808" y="6100936"/>
            <a:ext cx="960811" cy="688884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0174808" y="5308848"/>
            <a:ext cx="12002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</a:t>
            </a:r>
            <a:r>
              <a:rPr lang="fr-FR" baseline="-25000" dirty="0" smtClean="0"/>
              <a:t>2</a:t>
            </a:r>
            <a:r>
              <a:rPr lang="fr-FR" dirty="0" smtClean="0"/>
              <a:t>O</a:t>
            </a:r>
            <a:endParaRPr lang="fr-FR" dirty="0"/>
          </a:p>
        </p:txBody>
      </p:sp>
      <p:cxnSp>
        <p:nvCxnSpPr>
          <p:cNvPr id="16" name="Connecteur droit avec flèche 15"/>
          <p:cNvCxnSpPr>
            <a:stCxn id="10" idx="5"/>
          </p:cNvCxnSpPr>
          <p:nvPr/>
        </p:nvCxnSpPr>
        <p:spPr bwMode="auto">
          <a:xfrm>
            <a:off x="9596935" y="5235031"/>
            <a:ext cx="1009921" cy="1009921"/>
          </a:xfrm>
          <a:prstGeom prst="straightConnector1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Ellipse 19"/>
          <p:cNvSpPr/>
          <p:nvPr/>
        </p:nvSpPr>
        <p:spPr bwMode="auto">
          <a:xfrm>
            <a:off x="8518624" y="7109048"/>
            <a:ext cx="504056" cy="504056"/>
          </a:xfrm>
          <a:prstGeom prst="ellipse">
            <a:avLst/>
          </a:prstGeom>
          <a:gradFill flip="none" rotWithShape="1">
            <a:gsLst>
              <a:gs pos="53000">
                <a:srgbClr val="0000FF"/>
              </a:gs>
              <a:gs pos="100000">
                <a:srgbClr val="FFFFFF">
                  <a:alpha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1" name="Connecteur droit avec flèche 20"/>
          <p:cNvCxnSpPr>
            <a:stCxn id="14" idx="2"/>
            <a:endCxn id="20" idx="6"/>
          </p:cNvCxnSpPr>
          <p:nvPr/>
        </p:nvCxnSpPr>
        <p:spPr bwMode="auto">
          <a:xfrm flipH="1">
            <a:off x="9022680" y="6789820"/>
            <a:ext cx="1632534" cy="571256"/>
          </a:xfrm>
          <a:prstGeom prst="straightConnector1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504178"/>
              </p:ext>
            </p:extLst>
          </p:nvPr>
        </p:nvGraphicFramePr>
        <p:xfrm>
          <a:off x="9166696" y="4084712"/>
          <a:ext cx="72968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8" name="Equation" r:id="rId7" imgW="241300" imgH="190500" progId="Equation.DSMT4">
                  <p:embed/>
                </p:oleObj>
              </mc:Choice>
              <mc:Fallback>
                <p:oleObj name="Equation" r:id="rId7" imgW="241300" imgH="190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66696" y="4084712"/>
                        <a:ext cx="729681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09769"/>
              </p:ext>
            </p:extLst>
          </p:nvPr>
        </p:nvGraphicFramePr>
        <p:xfrm>
          <a:off x="8446616" y="6532984"/>
          <a:ext cx="7302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9" name="Equation" r:id="rId9" imgW="241300" imgH="203200" progId="Equation.DSMT4">
                  <p:embed/>
                </p:oleObj>
              </mc:Choice>
              <mc:Fallback>
                <p:oleObj name="Equation" r:id="rId9" imgW="2413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46616" y="6532984"/>
                        <a:ext cx="730250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336812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Sonde à neutrons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2" y="3724672"/>
            <a:ext cx="10464800" cy="5041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520" y="2140496"/>
            <a:ext cx="5022215" cy="66962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44552"/>
            <a:ext cx="6981991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9112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Réflectométrie métallique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84" y="2788568"/>
            <a:ext cx="112268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1642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Réflectométrie métallique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00" y="2644552"/>
            <a:ext cx="11150600" cy="5537200"/>
          </a:xfrm>
          <a:prstGeom prst="rect">
            <a:avLst/>
          </a:prstGeom>
        </p:spPr>
      </p:pic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284136"/>
              </p:ext>
            </p:extLst>
          </p:nvPr>
        </p:nvGraphicFramePr>
        <p:xfrm>
          <a:off x="885776" y="6244952"/>
          <a:ext cx="1503536" cy="1332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0" name="Equation" r:id="rId4" imgW="558800" imgH="495300" progId="Equation.DSMT4">
                  <p:embed/>
                </p:oleObj>
              </mc:Choice>
              <mc:Fallback>
                <p:oleObj name="Equation" r:id="rId4" imgW="558800" imgH="495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5776" y="6244952"/>
                        <a:ext cx="1503536" cy="1332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613432"/>
              </p:ext>
            </p:extLst>
          </p:nvPr>
        </p:nvGraphicFramePr>
        <p:xfrm>
          <a:off x="3622080" y="5524872"/>
          <a:ext cx="1656184" cy="147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1" name="Equation" r:id="rId6" imgW="469900" imgH="419100" progId="Equation.DSMT4">
                  <p:embed/>
                </p:oleObj>
              </mc:Choice>
              <mc:Fallback>
                <p:oleObj name="Equation" r:id="rId6" imgW="4699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22080" y="5524872"/>
                        <a:ext cx="1656184" cy="1477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975880"/>
              </p:ext>
            </p:extLst>
          </p:nvPr>
        </p:nvGraphicFramePr>
        <p:xfrm>
          <a:off x="3478064" y="7109048"/>
          <a:ext cx="1967827" cy="133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2" name="Equation" r:id="rId8" imgW="749300" imgH="508000" progId="Equation.DSMT4">
                  <p:embed/>
                </p:oleObj>
              </mc:Choice>
              <mc:Fallback>
                <p:oleObj name="Equation" r:id="rId8" imgW="749300" imgH="50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78064" y="7109048"/>
                        <a:ext cx="1967827" cy="1334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810984"/>
              </p:ext>
            </p:extLst>
          </p:nvPr>
        </p:nvGraphicFramePr>
        <p:xfrm>
          <a:off x="0" y="8621216"/>
          <a:ext cx="8045964" cy="63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83" name="Equation" r:id="rId10" imgW="3238500" imgH="254000" progId="Equation.DSMT4">
                  <p:embed/>
                </p:oleObj>
              </mc:Choice>
              <mc:Fallback>
                <p:oleObj name="Equation" r:id="rId10" imgW="3238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0" y="8621216"/>
                        <a:ext cx="8045964" cy="631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8302600" y="8765232"/>
            <a:ext cx="2226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 smtClean="0"/>
              <a:t>Topp</a:t>
            </a:r>
            <a:r>
              <a:rPr lang="fr-FR" sz="2400" dirty="0" smtClean="0"/>
              <a:t> et al., 1980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5377813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à coins arrondis 11"/>
          <p:cNvSpPr/>
          <p:nvPr/>
        </p:nvSpPr>
        <p:spPr bwMode="auto">
          <a:xfrm>
            <a:off x="237704" y="2356520"/>
            <a:ext cx="3600400" cy="4824536"/>
          </a:xfrm>
          <a:prstGeom prst="roundRect">
            <a:avLst/>
          </a:prstGeom>
          <a:solidFill>
            <a:srgbClr val="3366FF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Rectangle à coins arrondis 9"/>
          <p:cNvSpPr/>
          <p:nvPr/>
        </p:nvSpPr>
        <p:spPr bwMode="auto">
          <a:xfrm>
            <a:off x="237704" y="7397080"/>
            <a:ext cx="2736304" cy="1368152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Rectangle à coins arrondis 10"/>
          <p:cNvSpPr/>
          <p:nvPr/>
        </p:nvSpPr>
        <p:spPr bwMode="auto">
          <a:xfrm>
            <a:off x="3262040" y="7541096"/>
            <a:ext cx="8280920" cy="1224136"/>
          </a:xfrm>
          <a:prstGeom prst="roundRect">
            <a:avLst/>
          </a:prstGeom>
          <a:solidFill>
            <a:srgbClr val="FF66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598464"/>
          </a:xfrm>
        </p:spPr>
        <p:txBody>
          <a:bodyPr/>
          <a:lstStyle/>
          <a:p>
            <a:r>
              <a:rPr lang="fr-FR" dirty="0" smtClean="0"/>
              <a:t>Exemple TDR</a:t>
            </a:r>
            <a:endParaRPr lang="fr-FR" dirty="0"/>
          </a:p>
        </p:txBody>
      </p:sp>
      <p:pic>
        <p:nvPicPr>
          <p:cNvPr id="4" name="Image 3" descr="cours_1_1.gi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7" t="8776"/>
          <a:stretch/>
        </p:blipFill>
        <p:spPr>
          <a:xfrm>
            <a:off x="4342160" y="2201332"/>
            <a:ext cx="8314267" cy="5123739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446616" y="4516760"/>
            <a:ext cx="4539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9958784" y="5668888"/>
            <a:ext cx="4539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</a:t>
            </a:r>
            <a:endParaRPr lang="fr-FR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397567"/>
              </p:ext>
            </p:extLst>
          </p:nvPr>
        </p:nvGraphicFramePr>
        <p:xfrm>
          <a:off x="741760" y="2572544"/>
          <a:ext cx="3043975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9" name="Equation" r:id="rId5" imgW="952500" imgH="1397000" progId="Equation.DSMT4">
                  <p:embed/>
                </p:oleObj>
              </mc:Choice>
              <mc:Fallback>
                <p:oleObj name="Equation" r:id="rId5" imgW="952500" imgH="139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1760" y="2572544"/>
                        <a:ext cx="3043975" cy="4464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436110"/>
              </p:ext>
            </p:extLst>
          </p:nvPr>
        </p:nvGraphicFramePr>
        <p:xfrm>
          <a:off x="525736" y="7397080"/>
          <a:ext cx="1967827" cy="133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0" name="Equation" r:id="rId7" imgW="749300" imgH="508000" progId="Equation.DSMT4">
                  <p:embed/>
                </p:oleObj>
              </mc:Choice>
              <mc:Fallback>
                <p:oleObj name="Equation" r:id="rId7" imgW="749300" imgH="50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736" y="7397080"/>
                        <a:ext cx="1967827" cy="1334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701310"/>
              </p:ext>
            </p:extLst>
          </p:nvPr>
        </p:nvGraphicFramePr>
        <p:xfrm>
          <a:off x="3262040" y="7829128"/>
          <a:ext cx="8045964" cy="63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1" name="Equation" r:id="rId9" imgW="3238500" imgH="254000" progId="Equation.DSMT4">
                  <p:embed/>
                </p:oleObj>
              </mc:Choice>
              <mc:Fallback>
                <p:oleObj name="Equation" r:id="rId9" imgW="3238500" imgH="2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2040" y="7829128"/>
                        <a:ext cx="8045964" cy="631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20097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État énergétique de l’eau du sol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89832" y="4012704"/>
            <a:ext cx="10464800" cy="4542904"/>
          </a:xfrm>
        </p:spPr>
        <p:txBody>
          <a:bodyPr/>
          <a:lstStyle/>
          <a:p>
            <a:r>
              <a:rPr lang="fr-FR" dirty="0" smtClean="0"/>
              <a:t>Énergie cinétique;</a:t>
            </a:r>
          </a:p>
          <a:p>
            <a:r>
              <a:rPr lang="fr-FR" dirty="0" smtClean="0"/>
              <a:t>Énergie potentielle;</a:t>
            </a:r>
          </a:p>
          <a:p>
            <a:r>
              <a:rPr lang="fr-FR" dirty="0" smtClean="0"/>
              <a:t>Énergie interne.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389832" y="2932584"/>
            <a:ext cx="10297144" cy="2677656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r>
              <a:rPr lang="fr-FR" sz="4400" dirty="0">
                <a:solidFill>
                  <a:srgbClr val="3366FF"/>
                </a:solidFill>
                <a:latin typeface="+mj-lt"/>
                <a:ea typeface="+mj-ea"/>
                <a:cs typeface="+mj-cs"/>
                <a:sym typeface="Noteworthy Light" charset="0"/>
              </a:rPr>
              <a:t>Tous les corps dans la nature ont une énergie</a:t>
            </a:r>
          </a:p>
        </p:txBody>
      </p:sp>
    </p:spTree>
    <p:extLst>
      <p:ext uri="{BB962C8B-B14F-4D97-AF65-F5344CB8AC3E}">
        <p14:creationId xmlns:p14="http://schemas.microsoft.com/office/powerpoint/2010/main" val="114401652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État énergétique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61840" y="2212504"/>
            <a:ext cx="10464800" cy="2304256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On peut calculer une différence d’énergie entre deux états.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944" y="4372744"/>
            <a:ext cx="81407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876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45816" y="556320"/>
            <a:ext cx="10464800" cy="2438400"/>
          </a:xfrm>
        </p:spPr>
        <p:txBody>
          <a:bodyPr/>
          <a:lstStyle/>
          <a:p>
            <a:r>
              <a:rPr lang="fr-FR" sz="6000" dirty="0"/>
              <a:t>Potentiel total de l’eau dans le sol</a:t>
            </a:r>
            <a:br>
              <a:rPr lang="fr-FR" sz="6000" dirty="0"/>
            </a:b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9752" y="2572544"/>
            <a:ext cx="5616624" cy="5715000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Le concept de potentiel total de l’eau dans le sol peut établir le sens du mouvement de l’eau entre deux points sans connaitre les valeurs individuelles d’énergie en chaque point.</a:t>
            </a: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24060"/>
              </p:ext>
            </p:extLst>
          </p:nvPr>
        </p:nvGraphicFramePr>
        <p:xfrm>
          <a:off x="6574408" y="3724672"/>
          <a:ext cx="12103173" cy="36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4" name="Document" r:id="rId4" imgW="5943600" imgH="1663700" progId="Word.Document.12">
                  <p:embed/>
                </p:oleObj>
              </mc:Choice>
              <mc:Fallback>
                <p:oleObj name="Document" r:id="rId4" imgW="5943600" imgH="1663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74408" y="3724672"/>
                        <a:ext cx="12103173" cy="3672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560138"/>
              </p:ext>
            </p:extLst>
          </p:nvPr>
        </p:nvGraphicFramePr>
        <p:xfrm>
          <a:off x="6574408" y="7325072"/>
          <a:ext cx="2664296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5" name="Equation" r:id="rId6" imgW="1409700" imgH="419100" progId="Equation.DSMT4">
                  <p:embed/>
                </p:oleObj>
              </mc:Choice>
              <mc:Fallback>
                <p:oleObj name="Equation" r:id="rId6" imgW="1409700" imgH="419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74408" y="7325072"/>
                        <a:ext cx="2664296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47264"/>
              </p:ext>
            </p:extLst>
          </p:nvPr>
        </p:nvGraphicFramePr>
        <p:xfrm>
          <a:off x="6286376" y="8477200"/>
          <a:ext cx="3857571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6" name="Equation" r:id="rId8" imgW="1587500" imgH="266700" progId="Equation.DSMT4">
                  <p:embed/>
                </p:oleObj>
              </mc:Choice>
              <mc:Fallback>
                <p:oleObj name="Equation" r:id="rId8" imgW="15875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86376" y="8477200"/>
                        <a:ext cx="3857571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21329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52" y="268288"/>
            <a:ext cx="11704320" cy="1625600"/>
          </a:xfrm>
        </p:spPr>
        <p:txBody>
          <a:bodyPr/>
          <a:lstStyle/>
          <a:p>
            <a:r>
              <a:rPr lang="fr-FR" dirty="0" smtClean="0"/>
              <a:t>Potentiel Total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712" y="4804792"/>
            <a:ext cx="5746045" cy="909884"/>
          </a:xfrm>
        </p:spPr>
        <p:txBody>
          <a:bodyPr/>
          <a:lstStyle/>
          <a:p>
            <a:r>
              <a:rPr lang="fr-FR" sz="4000" dirty="0"/>
              <a:t>Composé de :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747" y="4768426"/>
            <a:ext cx="6285653" cy="5619610"/>
          </a:xfrm>
        </p:spPr>
        <p:txBody>
          <a:bodyPr>
            <a:normAutofit/>
          </a:bodyPr>
          <a:lstStyle/>
          <a:p>
            <a:r>
              <a:rPr lang="fr-FR" sz="4000" dirty="0"/>
              <a:t>Potentiel matriciel </a:t>
            </a:r>
          </a:p>
          <a:p>
            <a:r>
              <a:rPr lang="fr-FR" sz="4000" dirty="0"/>
              <a:t>Potentiel de hydrostatique</a:t>
            </a:r>
          </a:p>
          <a:p>
            <a:r>
              <a:rPr lang="fr-FR" sz="4000" dirty="0"/>
              <a:t>Potentiel Osmotique</a:t>
            </a:r>
          </a:p>
          <a:p>
            <a:r>
              <a:rPr lang="fr-FR" sz="4000" dirty="0"/>
              <a:t>Potentiel Gravitationnel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311742"/>
              </p:ext>
            </p:extLst>
          </p:nvPr>
        </p:nvGraphicFramePr>
        <p:xfrm>
          <a:off x="7078464" y="5524872"/>
          <a:ext cx="52927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9" name="Equation" r:id="rId4" imgW="1562100" imgH="266700" progId="Equation.DSMT4">
                  <p:embed/>
                </p:oleObj>
              </mc:Choice>
              <mc:Fallback>
                <p:oleObj name="Equation" r:id="rId4" imgW="15621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78464" y="5524872"/>
                        <a:ext cx="5292725" cy="83978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  <a:alpha val="3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325120" y="1300480"/>
            <a:ext cx="12354560" cy="4118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dirty="0"/>
              <a:t>D’un point de vue thermodynamique, l’énergie nécessaire à un processus naturel spontané tel que l’écoulement de l’eau dans le sol provient d’une diminution du niveau énergétique du système </a:t>
            </a:r>
            <a:endParaRPr lang="en-US" sz="4000" dirty="0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422069"/>
              </p:ext>
            </p:extLst>
          </p:nvPr>
        </p:nvGraphicFramePr>
        <p:xfrm>
          <a:off x="8446616" y="7181056"/>
          <a:ext cx="21082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0" name="Equation" r:id="rId6" imgW="622300" imgH="266700" progId="Equation.DSMT4">
                  <p:embed/>
                </p:oleObj>
              </mc:Choice>
              <mc:Fallback>
                <p:oleObj name="Equation" r:id="rId6" imgW="6223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46616" y="7181056"/>
                        <a:ext cx="2108200" cy="83978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35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8590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Potentiel Gravitationnel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L’énergie utilisable provenant du travail des forces de pesanteur lors d’un déplacement.</a:t>
            </a:r>
          </a:p>
          <a:p>
            <a:r>
              <a:rPr lang="fr-FR" dirty="0" smtClean="0"/>
              <a:t>Sa valeur en un point du sol est déterminée par la différence entre la cote altimétrique de ce point et celle du système de référence.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1322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-307776"/>
            <a:ext cx="10464800" cy="2438400"/>
          </a:xfrm>
        </p:spPr>
        <p:txBody>
          <a:bodyPr/>
          <a:lstStyle/>
          <a:p>
            <a:r>
              <a:rPr lang="fr-FR" dirty="0"/>
              <a:t>Potentiel gravitationnel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3728" y="3004592"/>
            <a:ext cx="4512320" cy="5715000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Tout objet dans un champ gravitationnel a une énergie potentielle gravitationnelle</a:t>
            </a: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10423"/>
              </p:ext>
            </p:extLst>
          </p:nvPr>
        </p:nvGraphicFramePr>
        <p:xfrm>
          <a:off x="4297363" y="1781175"/>
          <a:ext cx="41830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4" name="Equation" r:id="rId4" imgW="1549400" imgH="266700" progId="Equation.DSMT4">
                  <p:embed/>
                </p:oleObj>
              </mc:Choice>
              <mc:Fallback>
                <p:oleObj name="Equation" r:id="rId4" imgW="15494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97363" y="1781175"/>
                        <a:ext cx="4183062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115418"/>
              </p:ext>
            </p:extLst>
          </p:nvPr>
        </p:nvGraphicFramePr>
        <p:xfrm>
          <a:off x="5278264" y="3121347"/>
          <a:ext cx="7519987" cy="600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5" name="Equation" r:id="rId6" imgW="2882900" imgH="2298700" progId="Equation.DSMT4">
                  <p:embed/>
                </p:oleObj>
              </mc:Choice>
              <mc:Fallback>
                <p:oleObj name="Equation" r:id="rId6" imgW="2882900" imgH="2298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78264" y="3121347"/>
                        <a:ext cx="7519987" cy="600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678097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gravitationnel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rcRect l="-30842" r="-30842"/>
          <a:stretch>
            <a:fillRect/>
          </a:stretch>
        </p:blipFill>
        <p:spPr>
          <a:xfrm>
            <a:off x="2685976" y="3436640"/>
            <a:ext cx="8438696" cy="4608512"/>
          </a:xfrm>
        </p:spPr>
      </p:pic>
    </p:spTree>
    <p:extLst>
      <p:ext uri="{BB962C8B-B14F-4D97-AF65-F5344CB8AC3E}">
        <p14:creationId xmlns:p14="http://schemas.microsoft.com/office/powerpoint/2010/main" val="402216135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50240" y="-108373"/>
            <a:ext cx="11704320" cy="1625600"/>
          </a:xfrm>
        </p:spPr>
        <p:txBody>
          <a:bodyPr/>
          <a:lstStyle/>
          <a:p>
            <a:r>
              <a:rPr lang="fr-FR" dirty="0" smtClean="0"/>
              <a:t>Potentiel de Pression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02879" y="1998902"/>
            <a:ext cx="5038696" cy="6762045"/>
          </a:xfrm>
        </p:spPr>
      </p:pic>
      <p:sp>
        <p:nvSpPr>
          <p:cNvPr id="12" name="Content Placeholder 10"/>
          <p:cNvSpPr txBox="1">
            <a:spLocks/>
          </p:cNvSpPr>
          <p:nvPr/>
        </p:nvSpPr>
        <p:spPr>
          <a:xfrm>
            <a:off x="-2034" y="3436640"/>
            <a:ext cx="6285653" cy="4536504"/>
          </a:xfrm>
          <a:prstGeom prst="rect">
            <a:avLst/>
          </a:prstGeom>
        </p:spPr>
        <p:txBody>
          <a:bodyPr vert="horz" lIns="130046" tIns="65023" rIns="130046" bIns="65023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smtClean="0"/>
              <a:t>L’ensemble de la phase liquide du sol est soumise à la pression atmosphérique, ainsi lorsque la solution du sol subit une pression hydrostatique (en dessous d’une surface d’eau libre), sa pression est supérieur à la pression atmosphérique</a:t>
            </a:r>
            <a:endParaRPr lang="en-US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015954"/>
              </p:ext>
            </p:extLst>
          </p:nvPr>
        </p:nvGraphicFramePr>
        <p:xfrm>
          <a:off x="4329113" y="1492250"/>
          <a:ext cx="4714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3" name="Equation" r:id="rId5" imgW="1587500" imgH="266700" progId="Equation.DSMT4">
                  <p:embed/>
                </p:oleObj>
              </mc:Choice>
              <mc:Fallback>
                <p:oleObj name="Equation" r:id="rId5" imgW="15875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9113" y="1492250"/>
                        <a:ext cx="4714875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llipse 2"/>
          <p:cNvSpPr/>
          <p:nvPr/>
        </p:nvSpPr>
        <p:spPr bwMode="auto">
          <a:xfrm>
            <a:off x="7332970" y="4031947"/>
            <a:ext cx="648072" cy="504056"/>
          </a:xfrm>
          <a:prstGeom prst="ellipse">
            <a:avLst/>
          </a:prstGeom>
          <a:solidFill>
            <a:srgbClr val="FFFF00">
              <a:alpha val="0"/>
            </a:srgbClr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8302600" y="6893024"/>
            <a:ext cx="648072" cy="504056"/>
          </a:xfrm>
          <a:prstGeom prst="ellipse">
            <a:avLst/>
          </a:prstGeom>
          <a:solidFill>
            <a:srgbClr val="FFFF00">
              <a:alpha val="0"/>
            </a:srgbClr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27392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89832" y="340296"/>
            <a:ext cx="10464800" cy="2438400"/>
          </a:xfrm>
        </p:spPr>
        <p:txBody>
          <a:bodyPr/>
          <a:lstStyle/>
          <a:p>
            <a:r>
              <a:rPr lang="fr-FR" dirty="0"/>
              <a:t>Potentiel de pression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5617" y="3410272"/>
            <a:ext cx="6240512" cy="5715000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La composante de pression du potentiel total de l’eau dans le sol est uniquement considérée quand l’eau est soumise à une pression supérieure à la pression atmosphérique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76" y="4300736"/>
            <a:ext cx="6474207" cy="4016772"/>
          </a:xfrm>
          <a:prstGeom prst="rect">
            <a:avLst/>
          </a:prstGeom>
        </p:spPr>
      </p:pic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725349"/>
              </p:ext>
            </p:extLst>
          </p:nvPr>
        </p:nvGraphicFramePr>
        <p:xfrm>
          <a:off x="9598744" y="2716560"/>
          <a:ext cx="3024336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Equation" r:id="rId5" imgW="787400" imgH="393700" progId="Equation.DSMT4">
                  <p:embed/>
                </p:oleObj>
              </mc:Choice>
              <mc:Fallback>
                <p:oleObj name="Equation" r:id="rId5" imgW="7874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98744" y="2716560"/>
                        <a:ext cx="3024336" cy="151216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82257"/>
              </p:ext>
            </p:extLst>
          </p:nvPr>
        </p:nvGraphicFramePr>
        <p:xfrm>
          <a:off x="4270152" y="2500536"/>
          <a:ext cx="4714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7" name="Equation" r:id="rId7" imgW="1587500" imgH="266700" progId="Equation.DSMT4">
                  <p:embed/>
                </p:oleObj>
              </mc:Choice>
              <mc:Fallback>
                <p:oleObj name="Equation" r:id="rId7" imgW="15875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70152" y="2500536"/>
                        <a:ext cx="4714875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308412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de pression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96" y="2932584"/>
            <a:ext cx="5560426" cy="3672408"/>
          </a:xfrm>
          <a:prstGeom prst="rect">
            <a:avLst/>
          </a:prstGeom>
        </p:spPr>
      </p:pic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3947"/>
              </p:ext>
            </p:extLst>
          </p:nvPr>
        </p:nvGraphicFramePr>
        <p:xfrm>
          <a:off x="6340475" y="3556000"/>
          <a:ext cx="6145213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0" name="Equation" r:id="rId5" imgW="2413000" imgH="1320800" progId="Equation.DSMT4">
                  <p:embed/>
                </p:oleObj>
              </mc:Choice>
              <mc:Fallback>
                <p:oleObj name="Equation" r:id="rId5" imgW="2413000" imgH="132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40475" y="3556000"/>
                        <a:ext cx="6145213" cy="336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302100"/>
              </p:ext>
            </p:extLst>
          </p:nvPr>
        </p:nvGraphicFramePr>
        <p:xfrm>
          <a:off x="3118024" y="7757120"/>
          <a:ext cx="858859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1" name="Equation" r:id="rId7" imgW="4165600" imgH="279400" progId="Equation.DSMT4">
                  <p:embed/>
                </p:oleObj>
              </mc:Choice>
              <mc:Fallback>
                <p:oleObj name="Equation" r:id="rId7" imgW="4165600" imgH="279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18024" y="7757120"/>
                        <a:ext cx="8588591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957784" y="6388968"/>
            <a:ext cx="17223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h=10m</a:t>
            </a:r>
            <a:endParaRPr lang="fr-FR" dirty="0"/>
          </a:p>
        </p:txBody>
      </p:sp>
      <p:cxnSp>
        <p:nvCxnSpPr>
          <p:cNvPr id="9" name="Connecteur en angle 8"/>
          <p:cNvCxnSpPr>
            <a:stCxn id="7" idx="3"/>
            <a:endCxn id="6" idx="1"/>
          </p:cNvCxnSpPr>
          <p:nvPr/>
        </p:nvCxnSpPr>
        <p:spPr bwMode="auto">
          <a:xfrm>
            <a:off x="2680168" y="6758300"/>
            <a:ext cx="437856" cy="1286852"/>
          </a:xfrm>
          <a:prstGeom prst="bentConnector3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ZoneTexte 2"/>
          <p:cNvSpPr txBox="1"/>
          <p:nvPr/>
        </p:nvSpPr>
        <p:spPr>
          <a:xfrm>
            <a:off x="1249542" y="5092824"/>
            <a:ext cx="428322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A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378270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osmotique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5736" y="3076600"/>
            <a:ext cx="5016376" cy="4988520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L’eau du sol est en effet une solution de sels minéraux et de matière organique et pour cette raison, elle possède une composante osmotique.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320" y="2644552"/>
            <a:ext cx="6734696" cy="5418977"/>
          </a:xfrm>
          <a:prstGeom prst="rect">
            <a:avLst/>
          </a:prstGeom>
        </p:spPr>
      </p:pic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768546"/>
              </p:ext>
            </p:extLst>
          </p:nvPr>
        </p:nvGraphicFramePr>
        <p:xfrm>
          <a:off x="4927600" y="2284413"/>
          <a:ext cx="37639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Equation" r:id="rId5" imgW="1549400" imgH="266700" progId="Equation.DSMT4">
                  <p:embed/>
                </p:oleObj>
              </mc:Choice>
              <mc:Fallback>
                <p:oleObj name="Equation" r:id="rId5" imgW="15494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7600" y="2284413"/>
                        <a:ext cx="3763963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395344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50240" y="-216747"/>
            <a:ext cx="11704320" cy="1625600"/>
          </a:xfrm>
        </p:spPr>
        <p:txBody>
          <a:bodyPr/>
          <a:lstStyle/>
          <a:p>
            <a:r>
              <a:rPr lang="fr-FR" dirty="0" smtClean="0"/>
              <a:t>Potentiel Matriciel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41867" y="1300481"/>
            <a:ext cx="11704320" cy="3792343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Déterminé par les forces matricielles qui dépendent de la structure que fixe les forces capillaires et de nature des constituants solides du sol responsable de l’adsorption de l’eau.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8" t="7112" r="32304" b="62828"/>
          <a:stretch/>
        </p:blipFill>
        <p:spPr>
          <a:xfrm>
            <a:off x="669752" y="4948808"/>
            <a:ext cx="5716201" cy="41941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t="54274" r="7390" b="15666"/>
          <a:stretch/>
        </p:blipFill>
        <p:spPr>
          <a:xfrm>
            <a:off x="6718424" y="5308848"/>
            <a:ext cx="5854328" cy="3026998"/>
          </a:xfrm>
          <a:prstGeom prst="rect">
            <a:avLst/>
          </a:prstGeom>
        </p:spPr>
      </p:pic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795378"/>
              </p:ext>
            </p:extLst>
          </p:nvPr>
        </p:nvGraphicFramePr>
        <p:xfrm>
          <a:off x="4486176" y="1132384"/>
          <a:ext cx="4184583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5" name="Equation" r:id="rId5" imgW="1549400" imgH="266700" progId="Equation.DSMT4">
                  <p:embed/>
                </p:oleObj>
              </mc:Choice>
              <mc:Fallback>
                <p:oleObj name="Equation" r:id="rId5" imgW="15494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86176" y="1132384"/>
                        <a:ext cx="4184583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696503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matriciel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0000" y="2768600"/>
            <a:ext cx="5232400" cy="5715000"/>
          </a:xfrm>
        </p:spPr>
        <p:txBody>
          <a:bodyPr/>
          <a:lstStyle/>
          <a:p>
            <a:pPr marL="266700" indent="0">
              <a:buNone/>
            </a:pPr>
            <a:r>
              <a:rPr lang="fr-FR" dirty="0"/>
              <a:t>Le potentiel matriciel existe seulement quand le sol est en dehors des conditions de </a:t>
            </a:r>
            <a:r>
              <a:rPr lang="fr-FR" dirty="0" smtClean="0"/>
              <a:t>saturation.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464" y="2500536"/>
            <a:ext cx="453390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4489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Potentiel matriciel</a:t>
            </a:r>
          </a:p>
        </p:txBody>
      </p:sp>
      <p:pic>
        <p:nvPicPr>
          <p:cNvPr id="6" name="Imag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28" y="3004592"/>
            <a:ext cx="5184576" cy="41044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486243"/>
              </p:ext>
            </p:extLst>
          </p:nvPr>
        </p:nvGraphicFramePr>
        <p:xfrm>
          <a:off x="5854328" y="3364632"/>
          <a:ext cx="5898073" cy="365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4" name="Equation" r:id="rId5" imgW="1803400" imgH="1117600" progId="Equation.DSMT4">
                  <p:embed/>
                </p:oleObj>
              </mc:Choice>
              <mc:Fallback>
                <p:oleObj name="Equation" r:id="rId5" imgW="1803400" imgH="1117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4328" y="3364632"/>
                        <a:ext cx="5898073" cy="3655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683955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Potentiel matriciel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75" t="41258" b="5787"/>
          <a:stretch/>
        </p:blipFill>
        <p:spPr bwMode="auto">
          <a:xfrm>
            <a:off x="760583" y="2600960"/>
            <a:ext cx="564506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4876800" y="7383182"/>
            <a:ext cx="71526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76800" y="6502400"/>
            <a:ext cx="71526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76800" y="4118187"/>
            <a:ext cx="71526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9103360" y="3820652"/>
            <a:ext cx="0" cy="40098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8128000" y="4118187"/>
            <a:ext cx="1300480" cy="32649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214534"/>
              </p:ext>
            </p:extLst>
          </p:nvPr>
        </p:nvGraphicFramePr>
        <p:xfrm>
          <a:off x="5180786" y="5039361"/>
          <a:ext cx="3225044" cy="63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1" name="Equation" r:id="rId5" imgW="1054080" imgH="228600" progId="Equation.DSMT4">
                  <p:embed/>
                </p:oleObj>
              </mc:Choice>
              <mc:Fallback>
                <p:oleObj name="Equation" r:id="rId5" imgW="1054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80786" y="5039361"/>
                        <a:ext cx="3225044" cy="634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316500"/>
              </p:ext>
            </p:extLst>
          </p:nvPr>
        </p:nvGraphicFramePr>
        <p:xfrm>
          <a:off x="5357708" y="6626579"/>
          <a:ext cx="2912533" cy="63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2" name="Equation" r:id="rId7" imgW="952200" imgH="228600" progId="Equation.DSMT4">
                  <p:embed/>
                </p:oleObj>
              </mc:Choice>
              <mc:Fallback>
                <p:oleObj name="Equation" r:id="rId7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708" y="6626579"/>
                        <a:ext cx="2912533" cy="634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453120" y="4514088"/>
            <a:ext cx="975360" cy="777647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fr-FR" b="1" dirty="0" smtClean="0"/>
              <a:t>-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981191" y="6983182"/>
            <a:ext cx="975360" cy="777647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fr-FR" b="1" dirty="0"/>
              <a:t>+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468871" y="4776725"/>
            <a:ext cx="2343822" cy="500648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pPr algn="ctr"/>
            <a:r>
              <a:rPr lang="fr-FR" sz="2400" dirty="0" smtClean="0"/>
              <a:t>Potentiel négatif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685618" y="6558535"/>
            <a:ext cx="2343822" cy="500648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pPr algn="ctr"/>
            <a:r>
              <a:rPr lang="fr-FR" sz="2400" dirty="0" smtClean="0"/>
              <a:t>Potentiel positif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12484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à coins arrondis 25"/>
          <p:cNvSpPr/>
          <p:nvPr/>
        </p:nvSpPr>
        <p:spPr bwMode="auto">
          <a:xfrm>
            <a:off x="9310712" y="6749008"/>
            <a:ext cx="3240360" cy="1656184"/>
          </a:xfrm>
          <a:prstGeom prst="roundRect">
            <a:avLst/>
          </a:prstGeom>
          <a:solidFill>
            <a:srgbClr val="0000FF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Rectangle à coins arrondis 11"/>
          <p:cNvSpPr/>
          <p:nvPr/>
        </p:nvSpPr>
        <p:spPr bwMode="auto">
          <a:xfrm>
            <a:off x="11758984" y="2212504"/>
            <a:ext cx="792088" cy="1368152"/>
          </a:xfrm>
          <a:prstGeom prst="roundRect">
            <a:avLst/>
          </a:prstGeom>
          <a:solidFill>
            <a:srgbClr val="FF66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Rectangle à coins arrondis 10"/>
          <p:cNvSpPr/>
          <p:nvPr/>
        </p:nvSpPr>
        <p:spPr bwMode="auto">
          <a:xfrm>
            <a:off x="10246816" y="2212504"/>
            <a:ext cx="1296144" cy="1368152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Rectangle à coins arrondis 9"/>
          <p:cNvSpPr/>
          <p:nvPr/>
        </p:nvSpPr>
        <p:spPr bwMode="auto">
          <a:xfrm>
            <a:off x="525736" y="6388968"/>
            <a:ext cx="8136904" cy="2232248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526456"/>
          </a:xfrm>
        </p:spPr>
        <p:txBody>
          <a:bodyPr/>
          <a:lstStyle/>
          <a:p>
            <a:r>
              <a:rPr lang="fr-FR" sz="7200" dirty="0" smtClean="0"/>
              <a:t>Charge hydraulique</a:t>
            </a:r>
            <a:endParaRPr lang="fr-FR" sz="7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9712" y="2140496"/>
            <a:ext cx="8352928" cy="1656184"/>
          </a:xfrm>
        </p:spPr>
        <p:txBody>
          <a:bodyPr/>
          <a:lstStyle/>
          <a:p>
            <a:pPr marL="266700" indent="0">
              <a:buNone/>
            </a:pPr>
            <a:r>
              <a:rPr lang="fr-FR" dirty="0" smtClean="0"/>
              <a:t>Énergie d’une particule fluide de masse unitaire (exprimée en mètre d’eau)</a:t>
            </a:r>
            <a:endParaRPr lang="fr-FR" dirty="0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059194"/>
              </p:ext>
            </p:extLst>
          </p:nvPr>
        </p:nvGraphicFramePr>
        <p:xfrm>
          <a:off x="9382720" y="2068488"/>
          <a:ext cx="3132963" cy="132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4" name="Equation" r:id="rId3" imgW="1079500" imgH="457200" progId="Equation.DSMT4">
                  <p:embed/>
                </p:oleObj>
              </mc:Choice>
              <mc:Fallback>
                <p:oleObj name="Equation" r:id="rId3" imgW="10795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82720" y="2068488"/>
                        <a:ext cx="3132963" cy="1326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963227"/>
              </p:ext>
            </p:extLst>
          </p:nvPr>
        </p:nvGraphicFramePr>
        <p:xfrm>
          <a:off x="309712" y="4084712"/>
          <a:ext cx="8496944" cy="192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5" name="Equation" r:id="rId5" imgW="2743200" imgH="622300" progId="Equation.DSMT4">
                  <p:embed/>
                </p:oleObj>
              </mc:Choice>
              <mc:Fallback>
                <p:oleObj name="Equation" r:id="rId5" imgW="2743200" imgH="622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712" y="4084712"/>
                        <a:ext cx="8496944" cy="1927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ce réservé du contenu 2"/>
          <p:cNvSpPr txBox="1">
            <a:spLocks/>
          </p:cNvSpPr>
          <p:nvPr/>
        </p:nvSpPr>
        <p:spPr bwMode="auto">
          <a:xfrm>
            <a:off x="309712" y="6028928"/>
            <a:ext cx="8352928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dirty="0" smtClean="0"/>
              <a:t>Dans le sol </a:t>
            </a:r>
            <a:r>
              <a:rPr lang="fr-FR" b="1" dirty="0" smtClean="0"/>
              <a:t>v</a:t>
            </a:r>
            <a:r>
              <a:rPr lang="fr-FR" dirty="0" smtClean="0"/>
              <a:t> est très faible (&lt;10 cm/s)</a:t>
            </a:r>
            <a:endParaRPr lang="fr-FR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079713"/>
              </p:ext>
            </p:extLst>
          </p:nvPr>
        </p:nvGraphicFramePr>
        <p:xfrm>
          <a:off x="2325936" y="7325072"/>
          <a:ext cx="700088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6" name="Equation" r:id="rId7" imgW="241300" imgH="444500" progId="Equation.DSMT4">
                  <p:embed/>
                </p:oleObj>
              </mc:Choice>
              <mc:Fallback>
                <p:oleObj name="Equation" r:id="rId7" imgW="241300" imgH="444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25936" y="7325072"/>
                        <a:ext cx="700088" cy="1290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Espace réservé du contenu 2"/>
          <p:cNvSpPr txBox="1">
            <a:spLocks/>
          </p:cNvSpPr>
          <p:nvPr/>
        </p:nvSpPr>
        <p:spPr bwMode="auto">
          <a:xfrm>
            <a:off x="2974008" y="7253064"/>
            <a:ext cx="640871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sz="3200" dirty="0" smtClean="0"/>
              <a:t>Donc cela est négligeable</a:t>
            </a:r>
            <a:endParaRPr lang="fr-FR" sz="3200" dirty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 bwMode="auto">
          <a:xfrm>
            <a:off x="9238704" y="3652664"/>
            <a:ext cx="322189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sz="2800" dirty="0" smtClean="0"/>
              <a:t>énergie potentielle</a:t>
            </a:r>
            <a:endParaRPr lang="fr-FR" sz="2800" dirty="0"/>
          </a:p>
        </p:txBody>
      </p:sp>
      <p:cxnSp>
        <p:nvCxnSpPr>
          <p:cNvPr id="15" name="Connecteur en angle 14"/>
          <p:cNvCxnSpPr>
            <a:stCxn id="11" idx="2"/>
          </p:cNvCxnSpPr>
          <p:nvPr/>
        </p:nvCxnSpPr>
        <p:spPr bwMode="auto">
          <a:xfrm rot="5400000">
            <a:off x="10354828" y="3760676"/>
            <a:ext cx="720080" cy="360040"/>
          </a:xfrm>
          <a:prstGeom prst="bentConnector3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Espace réservé du contenu 2"/>
          <p:cNvSpPr txBox="1">
            <a:spLocks/>
          </p:cNvSpPr>
          <p:nvPr/>
        </p:nvSpPr>
        <p:spPr bwMode="auto">
          <a:xfrm>
            <a:off x="9782904" y="4948808"/>
            <a:ext cx="3221896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sz="2800" dirty="0" smtClean="0"/>
              <a:t>énergie cinétique</a:t>
            </a:r>
            <a:endParaRPr lang="fr-FR" sz="2800" dirty="0"/>
          </a:p>
        </p:txBody>
      </p:sp>
      <p:cxnSp>
        <p:nvCxnSpPr>
          <p:cNvPr id="18" name="Connecteur en angle 17"/>
          <p:cNvCxnSpPr>
            <a:stCxn id="12" idx="2"/>
            <a:endCxn id="16" idx="2"/>
          </p:cNvCxnSpPr>
          <p:nvPr/>
        </p:nvCxnSpPr>
        <p:spPr bwMode="auto">
          <a:xfrm rot="5400000">
            <a:off x="10658316" y="4316192"/>
            <a:ext cx="2232248" cy="761176"/>
          </a:xfrm>
          <a:prstGeom prst="bentConnector5">
            <a:avLst>
              <a:gd name="adj1" fmla="val 30645"/>
              <a:gd name="adj2" fmla="val -70167"/>
              <a:gd name="adj3" fmla="val 110241"/>
            </a:avLst>
          </a:prstGeom>
          <a:blipFill dpi="0" rotWithShape="0">
            <a:blip r:embed="rId9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889359"/>
              </p:ext>
            </p:extLst>
          </p:nvPr>
        </p:nvGraphicFramePr>
        <p:xfrm>
          <a:off x="9310712" y="6604992"/>
          <a:ext cx="3113574" cy="17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7" name="Equation" r:id="rId10" imgW="762000" imgH="431800" progId="Equation.DSMT4">
                  <p:embed/>
                </p:oleObj>
              </mc:Choice>
              <mc:Fallback>
                <p:oleObj name="Equation" r:id="rId10" imgW="7620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10712" y="6604992"/>
                        <a:ext cx="3113574" cy="176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060790"/>
              </p:ext>
            </p:extLst>
          </p:nvPr>
        </p:nvGraphicFramePr>
        <p:xfrm>
          <a:off x="8878664" y="8909248"/>
          <a:ext cx="1834182" cy="554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8" name="Equation" r:id="rId12" imgW="546100" imgH="165100" progId="Equation.DSMT4">
                  <p:embed/>
                </p:oleObj>
              </mc:Choice>
              <mc:Fallback>
                <p:oleObj name="Equation" r:id="rId12" imgW="546100" imgH="165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878664" y="8909248"/>
                        <a:ext cx="1834182" cy="554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Connecteur droit avec flèche 13"/>
          <p:cNvCxnSpPr>
            <a:endCxn id="19" idx="0"/>
          </p:cNvCxnSpPr>
          <p:nvPr/>
        </p:nvCxnSpPr>
        <p:spPr bwMode="auto">
          <a:xfrm flipH="1">
            <a:off x="9795755" y="8189168"/>
            <a:ext cx="1747205" cy="720080"/>
          </a:xfrm>
          <a:prstGeom prst="straightConnector1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" name="Espace réservé du contenu 2"/>
          <p:cNvSpPr txBox="1">
            <a:spLocks/>
          </p:cNvSpPr>
          <p:nvPr/>
        </p:nvSpPr>
        <p:spPr bwMode="auto">
          <a:xfrm>
            <a:off x="4342160" y="8333184"/>
            <a:ext cx="8352928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sz="2800" dirty="0" smtClean="0"/>
              <a:t>Poids spécifique en kgf ou N </a:t>
            </a:r>
            <a:r>
              <a:rPr lang="fr-FR" sz="2800" dirty="0" smtClean="0">
                <a:sym typeface="Wingdings"/>
              </a:rPr>
              <a:t></a:t>
            </a:r>
            <a:r>
              <a:rPr lang="fr-FR" sz="2800" dirty="0" smtClean="0"/>
              <a:t>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8643176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Charge hydraulique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3350" y="2389855"/>
            <a:ext cx="6285653" cy="6436925"/>
          </a:xfrm>
        </p:spPr>
        <p:txBody>
          <a:bodyPr>
            <a:normAutofit/>
          </a:bodyPr>
          <a:lstStyle/>
          <a:p>
            <a:r>
              <a:rPr lang="fr-FR" sz="4000" dirty="0"/>
              <a:t>Le potentiel est souvent exprimé en terme d’énergie par unité de poids (</a:t>
            </a:r>
            <a:r>
              <a:rPr lang="fr-FR" sz="4000" i="1" dirty="0"/>
              <a:t>charge hydraulique</a:t>
            </a:r>
            <a:r>
              <a:rPr lang="fr-FR" sz="4000" dirty="0"/>
              <a:t>) </a:t>
            </a:r>
          </a:p>
          <a:p>
            <a:r>
              <a:rPr lang="fr-FR" sz="4000" dirty="0"/>
              <a:t>Composé par les potentiels de pression et gravitationnelle </a:t>
            </a:r>
            <a:endParaRPr lang="en-US" sz="40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7685112"/>
            <a:ext cx="5215467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77279" y="3023162"/>
            <a:ext cx="6827520" cy="44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853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0596"/>
            <a:ext cx="12788053" cy="16256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Charge hydraulique, potentiel matriciel, potentiel gravitationnel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2492586"/>
            <a:ext cx="5748302" cy="5619610"/>
          </a:xfrm>
        </p:spPr>
        <p:txBody>
          <a:bodyPr/>
          <a:lstStyle/>
          <a:p>
            <a:pPr>
              <a:defRPr/>
            </a:pPr>
            <a:r>
              <a:rPr lang="en-US" dirty="0"/>
              <a:t>Au point P </a:t>
            </a:r>
          </a:p>
          <a:p>
            <a:pPr>
              <a:buFontTx/>
              <a:buNone/>
              <a:defRPr/>
            </a:pPr>
            <a:r>
              <a:rPr lang="en-US" dirty="0"/>
              <a:t>	</a:t>
            </a:r>
            <a:r>
              <a:rPr lang="en-US" dirty="0" err="1"/>
              <a:t>où</a:t>
            </a:r>
            <a:r>
              <a:rPr lang="en-US" dirty="0"/>
              <a:t> 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i="1" dirty="0" smtClean="0">
                <a:sym typeface="Symbol" pitchFamily="18" charset="2"/>
              </a:rPr>
              <a:t>H </a:t>
            </a:r>
            <a:r>
              <a:rPr lang="en-US" dirty="0" smtClean="0"/>
              <a:t>[</a:t>
            </a:r>
            <a:r>
              <a:rPr lang="en-US" dirty="0"/>
              <a:t>L] hauteur de la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d’eau</a:t>
            </a:r>
            <a:r>
              <a:rPr lang="en-US" dirty="0"/>
              <a:t> au point P et </a:t>
            </a:r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baseline="-25000" dirty="0"/>
              <a:t> </a:t>
            </a:r>
            <a:r>
              <a:rPr lang="fr-FR" dirty="0"/>
              <a:t>[ML</a:t>
            </a:r>
            <a:r>
              <a:rPr lang="fr-FR" baseline="30000" dirty="0"/>
              <a:t>-1</a:t>
            </a:r>
            <a:r>
              <a:rPr lang="fr-FR" dirty="0"/>
              <a:t>T</a:t>
            </a:r>
            <a:r>
              <a:rPr lang="fr-FR" baseline="30000" dirty="0"/>
              <a:t>-2</a:t>
            </a:r>
            <a:r>
              <a:rPr lang="fr-FR" dirty="0"/>
              <a:t>]</a:t>
            </a:r>
            <a:r>
              <a:rPr lang="en-US" baseline="-25000" dirty="0"/>
              <a:t> </a:t>
            </a:r>
            <a:r>
              <a:rPr lang="en-US" dirty="0"/>
              <a:t>la </a:t>
            </a:r>
            <a:r>
              <a:rPr lang="en-US" dirty="0" err="1"/>
              <a:t>pression</a:t>
            </a:r>
            <a:r>
              <a:rPr lang="en-US" dirty="0"/>
              <a:t> </a:t>
            </a:r>
            <a:r>
              <a:rPr lang="en-US" dirty="0" err="1"/>
              <a:t>atmosphérique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Charge </a:t>
            </a:r>
            <a:r>
              <a:rPr lang="en-US" dirty="0" err="1"/>
              <a:t>hydraulique</a:t>
            </a:r>
            <a:r>
              <a:rPr lang="en-US" dirty="0"/>
              <a:t> [L]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5" descr="figure cours0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69352"/>
            <a:ext cx="6719147" cy="5521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381050"/>
              </p:ext>
            </p:extLst>
          </p:nvPr>
        </p:nvGraphicFramePr>
        <p:xfrm>
          <a:off x="9413875" y="2424113"/>
          <a:ext cx="30368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50" name="Equation" r:id="rId4" imgW="825500" imgH="203200" progId="Equation.DSMT4">
                  <p:embed/>
                </p:oleObj>
              </mc:Choice>
              <mc:Fallback>
                <p:oleObj name="Equation" r:id="rId4" imgW="825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75" y="2424113"/>
                        <a:ext cx="3036888" cy="7477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528798"/>
              </p:ext>
            </p:extLst>
          </p:nvPr>
        </p:nvGraphicFramePr>
        <p:xfrm>
          <a:off x="8626475" y="6024563"/>
          <a:ext cx="21351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51" name="Equation" r:id="rId6" imgW="622300" imgH="165100" progId="Equation.DSMT4">
                  <p:embed/>
                </p:oleObj>
              </mc:Choice>
              <mc:Fallback>
                <p:oleObj name="Equation" r:id="rId6" imgW="622300" imgH="165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6475" y="6024563"/>
                        <a:ext cx="2135188" cy="5651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650240" y="7948772"/>
            <a:ext cx="11379200" cy="656590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marL="487672" indent="-487672">
              <a:spcBef>
                <a:spcPct val="20000"/>
              </a:spcBef>
              <a:defRPr/>
            </a:pPr>
            <a:r>
              <a:rPr lang="en-US" sz="3400" i="1" dirty="0">
                <a:sym typeface="Wingdings" pitchFamily="2" charset="2"/>
              </a:rPr>
              <a:t>Charge </a:t>
            </a:r>
            <a:r>
              <a:rPr lang="en-US" sz="3400" i="1" dirty="0" err="1">
                <a:sym typeface="Wingdings" pitchFamily="2" charset="2"/>
              </a:rPr>
              <a:t>hydraulique</a:t>
            </a:r>
            <a:r>
              <a:rPr lang="en-US" sz="3400" i="1" dirty="0">
                <a:sym typeface="Wingdings" pitchFamily="2" charset="2"/>
              </a:rPr>
              <a:t> = </a:t>
            </a:r>
            <a:r>
              <a:rPr lang="en-US" sz="3400" i="1" dirty="0" err="1">
                <a:sym typeface="Wingdings" pitchFamily="2" charset="2"/>
              </a:rPr>
              <a:t>Énergie</a:t>
            </a:r>
            <a:r>
              <a:rPr lang="en-US" sz="3400" i="1" dirty="0">
                <a:sym typeface="Wingdings" pitchFamily="2" charset="2"/>
              </a:rPr>
              <a:t> </a:t>
            </a:r>
            <a:r>
              <a:rPr lang="en-US" sz="3400" i="1" dirty="0" err="1">
                <a:sym typeface="Wingdings" pitchFamily="2" charset="2"/>
              </a:rPr>
              <a:t>mécanique</a:t>
            </a:r>
            <a:r>
              <a:rPr lang="en-US" sz="3400" i="1" dirty="0">
                <a:sym typeface="Wingdings" pitchFamily="2" charset="2"/>
              </a:rPr>
              <a:t> par </a:t>
            </a:r>
            <a:r>
              <a:rPr lang="en-US" sz="3400" i="1" dirty="0" err="1">
                <a:sym typeface="Wingdings" pitchFamily="2" charset="2"/>
              </a:rPr>
              <a:t>unité</a:t>
            </a:r>
            <a:r>
              <a:rPr lang="en-US" sz="3400" i="1" dirty="0">
                <a:sym typeface="Wingdings" pitchFamily="2" charset="2"/>
              </a:rPr>
              <a:t> de </a:t>
            </a:r>
            <a:r>
              <a:rPr lang="en-US" sz="3400" i="1" dirty="0" err="1">
                <a:sym typeface="Wingdings" pitchFamily="2" charset="2"/>
              </a:rPr>
              <a:t>poids</a:t>
            </a:r>
            <a:endParaRPr lang="en-US" sz="3400" i="1" dirty="0"/>
          </a:p>
        </p:txBody>
      </p:sp>
      <p:sp>
        <p:nvSpPr>
          <p:cNvPr id="3" name="ZoneTexte 2"/>
          <p:cNvSpPr txBox="1"/>
          <p:nvPr/>
        </p:nvSpPr>
        <p:spPr>
          <a:xfrm>
            <a:off x="3404814" y="4500363"/>
            <a:ext cx="433493" cy="777647"/>
          </a:xfrm>
          <a:prstGeom prst="rect">
            <a:avLst/>
          </a:prstGeom>
          <a:solidFill>
            <a:schemeClr val="bg1"/>
          </a:solidFill>
        </p:spPr>
        <p:txBody>
          <a:bodyPr wrap="square" lIns="130046" tIns="65023" rIns="130046" bIns="65023" rtlCol="0">
            <a:spAutoFit/>
          </a:bodyPr>
          <a:lstStyle/>
          <a:p>
            <a:r>
              <a:rPr lang="en-CA" dirty="0" smtClean="0"/>
              <a:t>H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7554461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0596"/>
            <a:ext cx="12788053" cy="1625600"/>
          </a:xfrm>
        </p:spPr>
        <p:txBody>
          <a:bodyPr>
            <a:noAutofit/>
          </a:bodyPr>
          <a:lstStyle/>
          <a:p>
            <a:r>
              <a:rPr lang="fr-FR" sz="5400" dirty="0" smtClean="0"/>
              <a:t>Charge hydraulique, potentiel matriciel, potentiel gravitationnel</a:t>
            </a:r>
            <a:endParaRPr lang="en-US" sz="5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9320107" y="9040143"/>
            <a:ext cx="3034453" cy="519289"/>
          </a:xfrm>
          <a:prstGeom prst="rect">
            <a:avLst/>
          </a:prstGeom>
        </p:spPr>
        <p:txBody>
          <a:bodyPr lIns="130046" tIns="65023" rIns="130046" bIns="65023"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47</a:t>
            </a:fld>
            <a:endParaRPr kumimoji="0" lang="en-US"/>
          </a:p>
        </p:txBody>
      </p:sp>
      <p:pic>
        <p:nvPicPr>
          <p:cNvPr id="15" name="Picture 2" descr="figure cours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9094"/>
            <a:ext cx="13004800" cy="679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6071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238424"/>
          </a:xfrm>
        </p:spPr>
        <p:txBody>
          <a:bodyPr/>
          <a:lstStyle/>
          <a:p>
            <a:r>
              <a:rPr lang="fr-FR" sz="6000" dirty="0" smtClean="0"/>
              <a:t>Perte de charge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0000" y="1492424"/>
            <a:ext cx="10464800" cy="6991176"/>
          </a:xfrm>
        </p:spPr>
        <p:txBody>
          <a:bodyPr/>
          <a:lstStyle/>
          <a:p>
            <a:r>
              <a:rPr lang="fr-FR" dirty="0" smtClean="0"/>
              <a:t>Écoulement d’un fluide parfait (incompressible et non visqueux)</a:t>
            </a:r>
          </a:p>
          <a:p>
            <a:pPr lvl="1">
              <a:buFont typeface="Wingdings" charset="2"/>
              <a:buChar char="²"/>
            </a:pPr>
            <a:r>
              <a:rPr lang="fr-FR" sz="3200" i="1" dirty="0" smtClean="0">
                <a:solidFill>
                  <a:srgbClr val="0000FF"/>
                </a:solidFill>
              </a:rPr>
              <a:t>La charge reste constante entre 2 points </a:t>
            </a:r>
          </a:p>
          <a:p>
            <a:r>
              <a:rPr lang="fr-FR" dirty="0" smtClean="0"/>
              <a:t>L’eau a une viscosité non nulle</a:t>
            </a:r>
          </a:p>
          <a:p>
            <a:pPr lvl="1"/>
            <a:r>
              <a:rPr lang="fr-FR" sz="3200" i="1" dirty="0"/>
              <a:t>Interaction entre l’eau et </a:t>
            </a:r>
            <a:r>
              <a:rPr lang="fr-FR" sz="3200" i="1" dirty="0" smtClean="0"/>
              <a:t>le sol</a:t>
            </a:r>
          </a:p>
          <a:p>
            <a:pPr lvl="1"/>
            <a:r>
              <a:rPr lang="fr-FR" sz="3200" i="1" dirty="0" smtClean="0"/>
              <a:t>Dissipation d’énergie </a:t>
            </a:r>
          </a:p>
          <a:p>
            <a:pPr lvl="2">
              <a:buFont typeface="Wingdings" charset="2"/>
              <a:buChar char="²"/>
            </a:pPr>
            <a:r>
              <a:rPr lang="fr-FR" sz="3200" i="1" dirty="0" smtClean="0">
                <a:solidFill>
                  <a:srgbClr val="0000FF"/>
                </a:solidFill>
              </a:rPr>
              <a:t>Perte de charge entre deux points </a:t>
            </a:r>
            <a:endParaRPr lang="fr-FR" sz="32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969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de charge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3728" y="2428528"/>
            <a:ext cx="11737304" cy="2016224"/>
          </a:xfrm>
        </p:spPr>
        <p:txBody>
          <a:bodyPr/>
          <a:lstStyle/>
          <a:p>
            <a:pPr marL="266700" indent="0">
              <a:buNone/>
            </a:pPr>
            <a:r>
              <a:rPr lang="fr-FR" dirty="0" smtClean="0"/>
              <a:t>Généralement on peut négliger le potentiel osmotique, donc :</a:t>
            </a:r>
            <a:endParaRPr lang="fr-FR" dirty="0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600443"/>
              </p:ext>
            </p:extLst>
          </p:nvPr>
        </p:nvGraphicFramePr>
        <p:xfrm>
          <a:off x="4670425" y="4156075"/>
          <a:ext cx="37988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" name="Equation" r:id="rId3" imgW="1206500" imgH="228600" progId="Equation.DSMT4">
                  <p:embed/>
                </p:oleObj>
              </mc:Choice>
              <mc:Fallback>
                <p:oleObj name="Equation" r:id="rId3" imgW="12065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0425" y="4156075"/>
                        <a:ext cx="3798888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ce réservé du contenu 2"/>
          <p:cNvSpPr txBox="1">
            <a:spLocks/>
          </p:cNvSpPr>
          <p:nvPr/>
        </p:nvSpPr>
        <p:spPr bwMode="auto">
          <a:xfrm>
            <a:off x="597744" y="4948808"/>
            <a:ext cx="1173730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1pPr>
            <a:lvl2pPr marL="1282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2pPr>
            <a:lvl3pPr marL="1727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3pPr>
            <a:lvl4pPr marL="21717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4pPr>
            <a:lvl5pPr marL="26162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5pPr>
            <a:lvl6pPr marL="30734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6pPr>
            <a:lvl7pPr marL="35306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7pPr>
            <a:lvl8pPr marL="39878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8pPr>
            <a:lvl9pPr marL="4445000" indent="-571500" algn="l" rtl="0" fontAlgn="base">
              <a:spcBef>
                <a:spcPts val="2400"/>
              </a:spcBef>
              <a:spcAft>
                <a:spcPct val="0"/>
              </a:spcAft>
              <a:buSzPct val="171000"/>
              <a:buFont typeface="Noteworthy Light" charset="0"/>
              <a:buChar char="•"/>
              <a:defRPr sz="4200">
                <a:solidFill>
                  <a:schemeClr val="tx1"/>
                </a:solidFill>
                <a:latin typeface="+mn-lt"/>
                <a:ea typeface="+mn-ea"/>
                <a:cs typeface="+mn-cs"/>
                <a:sym typeface="Noteworthy Light" charset="0"/>
              </a:defRPr>
            </a:lvl9pPr>
          </a:lstStyle>
          <a:p>
            <a:pPr marL="266700" indent="0">
              <a:buFont typeface="Noteworthy Light" charset="0"/>
              <a:buNone/>
            </a:pPr>
            <a:r>
              <a:rPr lang="fr-FR" dirty="0" smtClean="0"/>
              <a:t>Le potentiel peut être décrit par la charge hydraulique totale:</a:t>
            </a:r>
            <a:endParaRPr lang="fr-FR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072242"/>
              </p:ext>
            </p:extLst>
          </p:nvPr>
        </p:nvGraphicFramePr>
        <p:xfrm>
          <a:off x="5734050" y="6692900"/>
          <a:ext cx="19605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" name="Equation" r:id="rId5" imgW="622300" imgH="177800" progId="Equation.DSMT4">
                  <p:embed/>
                </p:oleObj>
              </mc:Choice>
              <mc:Fallback>
                <p:oleObj name="Equation" r:id="rId5" imgW="622300" imgH="177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4050" y="6692900"/>
                        <a:ext cx="1960563" cy="61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378364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de charge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3728" y="1780456"/>
            <a:ext cx="11737304" cy="2016224"/>
          </a:xfrm>
        </p:spPr>
        <p:txBody>
          <a:bodyPr/>
          <a:lstStyle/>
          <a:p>
            <a:pPr marL="266700" indent="0" algn="ctr">
              <a:buNone/>
            </a:pPr>
            <a:r>
              <a:rPr lang="fr-FR" dirty="0" smtClean="0"/>
              <a:t>Le profil de charge est un diagramme des potentiels </a:t>
            </a:r>
            <a:endParaRPr lang="fr-FR" dirty="0"/>
          </a:p>
        </p:txBody>
      </p:sp>
      <p:pic>
        <p:nvPicPr>
          <p:cNvPr id="8" name="Image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99"/>
          <a:stretch/>
        </p:blipFill>
        <p:spPr bwMode="auto">
          <a:xfrm>
            <a:off x="1389832" y="3436640"/>
            <a:ext cx="11233248" cy="47525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317824" y="7757120"/>
            <a:ext cx="51234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profil de charge hypothétique 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6862440" y="7973144"/>
            <a:ext cx="51234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profil de charge </a:t>
            </a:r>
            <a:r>
              <a:rPr lang="fr-CA" dirty="0" smtClean="0"/>
              <a:t>réel</a:t>
            </a:r>
          </a:p>
          <a:p>
            <a:r>
              <a:rPr lang="fr-CA" dirty="0" err="1" smtClean="0"/>
              <a:t>Evap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994734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de charge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3728" y="1780456"/>
            <a:ext cx="11737304" cy="2016224"/>
          </a:xfrm>
        </p:spPr>
        <p:txBody>
          <a:bodyPr/>
          <a:lstStyle/>
          <a:p>
            <a:pPr marL="266700" indent="0" algn="ctr">
              <a:buNone/>
            </a:pPr>
            <a:r>
              <a:rPr lang="fr-FR" dirty="0" smtClean="0"/>
              <a:t>Le profil de charge en Évaporation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904" y="3436640"/>
            <a:ext cx="8928992" cy="5648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334262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de charge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3728" y="1780456"/>
            <a:ext cx="11737304" cy="2016224"/>
          </a:xfrm>
        </p:spPr>
        <p:txBody>
          <a:bodyPr/>
          <a:lstStyle/>
          <a:p>
            <a:pPr marL="266700" indent="0" algn="ctr">
              <a:buNone/>
            </a:pPr>
            <a:r>
              <a:rPr lang="fr-FR" dirty="0" smtClean="0"/>
              <a:t>Conditions d’équilibre dynamique</a:t>
            </a:r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944" y="3292624"/>
            <a:ext cx="8280920" cy="5858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175383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Mesure du potentiel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Piézomètre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Tensiomètre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1118" b="1118"/>
          <a:stretch>
            <a:fillRect/>
          </a:stretch>
        </p:blipFill>
        <p:spPr/>
      </p:pic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607" b="6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3178787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60376"/>
            <a:ext cx="11704320" cy="7200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Mesure du potentiel </a:t>
            </a:r>
            <a:br>
              <a:rPr lang="fr-FR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83" y="1300480"/>
            <a:ext cx="5344084" cy="7353583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/>
              <a:t>Piézomètre, </a:t>
            </a:r>
            <a:r>
              <a:rPr lang="fr-FR" dirty="0" smtClean="0"/>
              <a:t>il comprend une crépine prolongée d’un tuyau étanche. La crépine est en contact avec l’écoulement souterrain. Quand l’eau est immobile à l’ intérieur du tuyau (l’eau isolée du terrain pour créer un volume équipotentiel), l’élévation de la surface de l’eau libre dans le tuyau est égale à la charge hydraulique  </a:t>
            </a:r>
            <a:r>
              <a:rPr lang="fr-FR" b="1" dirty="0" smtClean="0"/>
              <a:t> </a:t>
            </a:r>
            <a:endParaRPr lang="en-US" b="1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547" y="1727424"/>
            <a:ext cx="7950662" cy="6427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10350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Piézomètre</a:t>
            </a:r>
            <a:endParaRPr lang="fr-FR" dirty="0"/>
          </a:p>
        </p:txBody>
      </p:sp>
      <p:pic>
        <p:nvPicPr>
          <p:cNvPr id="7" name="Image 6" descr="gpg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8" y="3292624"/>
            <a:ext cx="6803350" cy="4824536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302600" y="4372744"/>
            <a:ext cx="37571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Profil de Charge</a:t>
            </a:r>
          </a:p>
          <a:p>
            <a:r>
              <a:rPr lang="fr-FR" dirty="0" smtClean="0"/>
              <a:t>???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4589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Ligne piézométrique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40" y="2140496"/>
            <a:ext cx="10258963" cy="652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0060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744" y="700336"/>
            <a:ext cx="11704320" cy="90988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Mesure du potentiel </a:t>
            </a:r>
            <a:br>
              <a:rPr lang="fr-FR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752" y="1300481"/>
            <a:ext cx="7133128" cy="2280176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/>
              <a:t>Tensiomètre, </a:t>
            </a:r>
            <a:r>
              <a:rPr lang="fr-FR" dirty="0" smtClean="0"/>
              <a:t>il est constitué d’un réservoir d’eau dans un manomètre connecté avec le sol par une coupelle en céramique poreuse. </a:t>
            </a:r>
            <a:r>
              <a:rPr lang="fr-FR" b="1" dirty="0" smtClean="0"/>
              <a:t> </a:t>
            </a:r>
            <a:endParaRPr lang="en-US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9320107" y="9040143"/>
            <a:ext cx="3034453" cy="519289"/>
          </a:xfrm>
          <a:prstGeom prst="rect">
            <a:avLst/>
          </a:prstGeom>
        </p:spPr>
        <p:txBody>
          <a:bodyPr lIns="130046" tIns="65023" rIns="130046" bIns="65023"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57</a:t>
            </a:fld>
            <a:endParaRPr kumimoji="0" lang="en-US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592" y="1348408"/>
            <a:ext cx="4774208" cy="7695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68" y="3580656"/>
            <a:ext cx="7254147" cy="5100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1965897" y="7901137"/>
            <a:ext cx="3672408" cy="1155286"/>
          </a:xfrm>
          <a:prstGeom prst="ellipse">
            <a:avLst/>
          </a:prstGeom>
          <a:solidFill>
            <a:srgbClr val="3366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fr-FR" sz="3600" dirty="0" smtClean="0"/>
              <a:t>Tensiomètre</a:t>
            </a:r>
            <a:endParaRPr lang="en-US" sz="3600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847253" y="7369388"/>
            <a:ext cx="704427" cy="928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4137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28" y="700336"/>
            <a:ext cx="11704320" cy="90988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Type de tensiomètres</a:t>
            </a:r>
            <a:br>
              <a:rPr lang="fr-FR" dirty="0" smtClean="0"/>
            </a:b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514" y="1132384"/>
            <a:ext cx="2986286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t="33346" r="22363" b="14582"/>
          <a:stretch/>
        </p:blipFill>
        <p:spPr>
          <a:xfrm>
            <a:off x="552481" y="2492587"/>
            <a:ext cx="9742986" cy="614082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52481" y="7911254"/>
            <a:ext cx="1506613" cy="72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019627" y="7586134"/>
            <a:ext cx="2275840" cy="1408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059094" y="1304131"/>
            <a:ext cx="3684693" cy="1236946"/>
          </a:xfrm>
          <a:prstGeom prst="ellipse">
            <a:avLst/>
          </a:prstGeom>
          <a:solidFill>
            <a:srgbClr val="33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fr-FR" sz="3200" dirty="0" smtClean="0"/>
              <a:t>Set de tensiomètres</a:t>
            </a:r>
            <a:endParaRPr lang="en-US" sz="3200" dirty="0"/>
          </a:p>
        </p:txBody>
      </p:sp>
      <p:cxnSp>
        <p:nvCxnSpPr>
          <p:cNvPr id="15" name="Straight Arrow Connector 14"/>
          <p:cNvCxnSpPr>
            <a:stCxn id="13" idx="4"/>
          </p:cNvCxnSpPr>
          <p:nvPr/>
        </p:nvCxnSpPr>
        <p:spPr>
          <a:xfrm>
            <a:off x="3901440" y="2541078"/>
            <a:ext cx="2926080" cy="9268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8849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 tensiomètre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52" y="3076600"/>
            <a:ext cx="5400600" cy="5616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947453"/>
              </p:ext>
            </p:extLst>
          </p:nvPr>
        </p:nvGraphicFramePr>
        <p:xfrm>
          <a:off x="6574408" y="3508648"/>
          <a:ext cx="5851525" cy="431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Equation" r:id="rId5" imgW="2260600" imgH="1663700" progId="Equation.DSMT4">
                  <p:embed/>
                </p:oleObj>
              </mc:Choice>
              <mc:Fallback>
                <p:oleObj name="Equation" r:id="rId5" imgW="2260600" imgH="166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74408" y="3508648"/>
                        <a:ext cx="5851525" cy="431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16925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1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36" y="2171768"/>
            <a:ext cx="8784976" cy="760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0174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1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2" y="2356520"/>
            <a:ext cx="6539203" cy="5657360"/>
          </a:xfrm>
          <a:prstGeom prst="rect">
            <a:avLst/>
          </a:prstGeom>
        </p:spPr>
      </p:pic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730998"/>
              </p:ext>
            </p:extLst>
          </p:nvPr>
        </p:nvGraphicFramePr>
        <p:xfrm>
          <a:off x="7222480" y="2140496"/>
          <a:ext cx="5549588" cy="619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5" name="Equation" r:id="rId4" imgW="2413000" imgH="2692400" progId="Equation.DSMT4">
                  <p:embed/>
                </p:oleObj>
              </mc:Choice>
              <mc:Fallback>
                <p:oleObj name="Equation" r:id="rId4" imgW="2413000" imgH="269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22480" y="2140496"/>
                        <a:ext cx="5549588" cy="619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334551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5736" y="3508648"/>
            <a:ext cx="11703050" cy="2160240"/>
          </a:xfrm>
        </p:spPr>
        <p:txBody>
          <a:bodyPr/>
          <a:lstStyle/>
          <a:p>
            <a:r>
              <a:rPr lang="fr-FR" sz="8000" dirty="0" smtClean="0"/>
              <a:t>Exemple 2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147336065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6" y="7397080"/>
            <a:ext cx="12780234" cy="223224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952" y="0"/>
            <a:ext cx="8736644" cy="7253064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029792" y="6965032"/>
            <a:ext cx="9470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kPa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45057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1" y="1564432"/>
            <a:ext cx="11063937" cy="67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372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36" y="1636440"/>
            <a:ext cx="12013335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118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840"/>
            <a:ext cx="11704320" cy="1625600"/>
          </a:xfrm>
        </p:spPr>
        <p:txBody>
          <a:bodyPr/>
          <a:lstStyle/>
          <a:p>
            <a:r>
              <a:rPr lang="fr-FR" dirty="0" smtClean="0"/>
              <a:t>Courbe de rétention en eau</a:t>
            </a: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3" y="2262035"/>
            <a:ext cx="7369387" cy="6431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7152641" y="1625600"/>
            <a:ext cx="5542448" cy="735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dirty="0"/>
              <a:t>On appelle courbe de rétention d'eau, la relation entre la teneur en eau volumétrique θ et le potentiel hydrique du matériau. Cette courbe caractérise différents types de milieux poreux.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3049310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3" name="Rectangle 5"/>
          <p:cNvSpPr>
            <a:spLocks noChangeArrowheads="1"/>
          </p:cNvSpPr>
          <p:nvPr/>
        </p:nvSpPr>
        <p:spPr bwMode="auto">
          <a:xfrm>
            <a:off x="5520267" y="4714240"/>
            <a:ext cx="13004800" cy="777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046" tIns="65023" rIns="130046" bIns="65023">
            <a:spAutoFit/>
          </a:bodyPr>
          <a:lstStyle/>
          <a:p>
            <a:pPr>
              <a:defRPr/>
            </a:pPr>
            <a:endParaRPr lang="fr-CA"/>
          </a:p>
        </p:txBody>
      </p:sp>
      <p:sp>
        <p:nvSpPr>
          <p:cNvPr id="1107974" name="Rectangle 6"/>
          <p:cNvSpPr>
            <a:spLocks noChangeArrowheads="1"/>
          </p:cNvSpPr>
          <p:nvPr/>
        </p:nvSpPr>
        <p:spPr bwMode="auto">
          <a:xfrm>
            <a:off x="6007947" y="4585547"/>
            <a:ext cx="13004800" cy="777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046" tIns="65023" rIns="130046" bIns="65023">
            <a:spAutoFit/>
          </a:bodyPr>
          <a:lstStyle/>
          <a:p>
            <a:pPr>
              <a:defRPr/>
            </a:pPr>
            <a:endParaRPr lang="fr-CA"/>
          </a:p>
        </p:txBody>
      </p:sp>
      <p:sp>
        <p:nvSpPr>
          <p:cNvPr id="1107990" name="Rectangle 22"/>
          <p:cNvSpPr>
            <a:spLocks noChangeArrowheads="1"/>
          </p:cNvSpPr>
          <p:nvPr/>
        </p:nvSpPr>
        <p:spPr bwMode="auto">
          <a:xfrm>
            <a:off x="4730192" y="4464348"/>
            <a:ext cx="220190" cy="2905037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7991" name="Rectangle 23"/>
          <p:cNvSpPr>
            <a:spLocks noChangeArrowheads="1"/>
          </p:cNvSpPr>
          <p:nvPr/>
        </p:nvSpPr>
        <p:spPr bwMode="auto">
          <a:xfrm>
            <a:off x="4284919" y="4186952"/>
            <a:ext cx="1110736" cy="2773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7992" name="Rectangle 24"/>
          <p:cNvSpPr>
            <a:spLocks noChangeArrowheads="1"/>
          </p:cNvSpPr>
          <p:nvPr/>
        </p:nvSpPr>
        <p:spPr bwMode="auto">
          <a:xfrm>
            <a:off x="4507556" y="3912605"/>
            <a:ext cx="665462" cy="274348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7993" name="Line 25"/>
          <p:cNvSpPr>
            <a:spLocks noChangeShapeType="1"/>
          </p:cNvSpPr>
          <p:nvPr/>
        </p:nvSpPr>
        <p:spPr bwMode="auto">
          <a:xfrm flipV="1">
            <a:off x="4294706" y="3772382"/>
            <a:ext cx="0" cy="414569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7994" name="Line 26"/>
          <p:cNvSpPr>
            <a:spLocks noChangeShapeType="1"/>
          </p:cNvSpPr>
          <p:nvPr/>
        </p:nvSpPr>
        <p:spPr bwMode="auto">
          <a:xfrm flipV="1">
            <a:off x="5388315" y="3772382"/>
            <a:ext cx="0" cy="414569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7998" name="Rectangle 30"/>
          <p:cNvSpPr>
            <a:spLocks noChangeArrowheads="1"/>
          </p:cNvSpPr>
          <p:nvPr/>
        </p:nvSpPr>
        <p:spPr bwMode="auto">
          <a:xfrm>
            <a:off x="8725415" y="6262850"/>
            <a:ext cx="220190" cy="1106536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7999" name="Rectangle 31"/>
          <p:cNvSpPr>
            <a:spLocks noChangeArrowheads="1"/>
          </p:cNvSpPr>
          <p:nvPr/>
        </p:nvSpPr>
        <p:spPr bwMode="auto">
          <a:xfrm>
            <a:off x="8280141" y="5985453"/>
            <a:ext cx="1110736" cy="277396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8001" name="Line 33"/>
          <p:cNvSpPr>
            <a:spLocks noChangeShapeType="1"/>
          </p:cNvSpPr>
          <p:nvPr/>
        </p:nvSpPr>
        <p:spPr bwMode="auto">
          <a:xfrm flipV="1">
            <a:off x="8287481" y="5708058"/>
            <a:ext cx="0" cy="277396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8002" name="Line 34"/>
          <p:cNvSpPr>
            <a:spLocks noChangeShapeType="1"/>
          </p:cNvSpPr>
          <p:nvPr/>
        </p:nvSpPr>
        <p:spPr bwMode="auto">
          <a:xfrm flipV="1">
            <a:off x="9381090" y="5708058"/>
            <a:ext cx="0" cy="277396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8003" name="Rectangle 35"/>
          <p:cNvSpPr>
            <a:spLocks noChangeArrowheads="1"/>
          </p:cNvSpPr>
          <p:nvPr/>
        </p:nvSpPr>
        <p:spPr bwMode="auto">
          <a:xfrm>
            <a:off x="4730191" y="7027975"/>
            <a:ext cx="4215413" cy="341410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pPr>
              <a:defRPr/>
            </a:pPr>
            <a:endParaRPr lang="fr-CA"/>
          </a:p>
        </p:txBody>
      </p:sp>
      <p:sp>
        <p:nvSpPr>
          <p:cNvPr id="1108004" name="Line 36"/>
          <p:cNvSpPr>
            <a:spLocks noChangeShapeType="1"/>
          </p:cNvSpPr>
          <p:nvPr/>
        </p:nvSpPr>
        <p:spPr bwMode="auto">
          <a:xfrm flipH="1">
            <a:off x="5615845" y="5985454"/>
            <a:ext cx="2554202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8005" name="Line 37"/>
          <p:cNvSpPr>
            <a:spLocks noChangeShapeType="1"/>
          </p:cNvSpPr>
          <p:nvPr/>
        </p:nvSpPr>
        <p:spPr bwMode="auto">
          <a:xfrm>
            <a:off x="5615845" y="4186953"/>
            <a:ext cx="445272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8006" name="Line 38"/>
          <p:cNvSpPr>
            <a:spLocks noChangeShapeType="1"/>
          </p:cNvSpPr>
          <p:nvPr/>
        </p:nvSpPr>
        <p:spPr bwMode="auto">
          <a:xfrm>
            <a:off x="5838481" y="4186953"/>
            <a:ext cx="0" cy="1798501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 type="triangle" w="med" len="med"/>
            <a:tailEnd type="triangle" w="med" len="med"/>
          </a:ln>
          <a:effectLst/>
        </p:spPr>
        <p:txBody>
          <a:bodyPr lIns="130046" tIns="65023" rIns="130046" bIns="65023"/>
          <a:lstStyle/>
          <a:p>
            <a:pPr>
              <a:defRPr/>
            </a:pPr>
            <a:endParaRPr lang="fr-CA"/>
          </a:p>
        </p:txBody>
      </p:sp>
      <p:sp>
        <p:nvSpPr>
          <p:cNvPr id="1108007" name="Text Box 39"/>
          <p:cNvSpPr txBox="1">
            <a:spLocks noChangeArrowheads="1"/>
          </p:cNvSpPr>
          <p:nvPr/>
        </p:nvSpPr>
        <p:spPr bwMode="auto">
          <a:xfrm>
            <a:off x="5919218" y="4619811"/>
            <a:ext cx="5568356" cy="1182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>
              <a:defRPr/>
            </a:pPr>
            <a:r>
              <a:rPr lang="fr-CA" sz="2300" b="1" dirty="0"/>
              <a:t>Pression négative appliquée à l’échantillon </a:t>
            </a:r>
          </a:p>
          <a:p>
            <a:pPr algn="ctr">
              <a:defRPr/>
            </a:pPr>
            <a:r>
              <a:rPr lang="fr-CA" sz="2300" b="1" dirty="0"/>
              <a:t>(</a:t>
            </a:r>
            <a:r>
              <a:rPr lang="fr-CA" sz="2300" b="1" i="1" dirty="0"/>
              <a:t>tension capillaire</a:t>
            </a:r>
            <a:r>
              <a:rPr lang="fr-CA" sz="2300" b="1" dirty="0"/>
              <a:t>)</a:t>
            </a:r>
          </a:p>
        </p:txBody>
      </p:sp>
      <p:sp>
        <p:nvSpPr>
          <p:cNvPr id="1108008" name="Text Box 40"/>
          <p:cNvSpPr txBox="1">
            <a:spLocks noChangeArrowheads="1"/>
          </p:cNvSpPr>
          <p:nvPr/>
        </p:nvSpPr>
        <p:spPr bwMode="auto">
          <a:xfrm>
            <a:off x="1461840" y="2716560"/>
            <a:ext cx="2917105" cy="562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046" tIns="65023" rIns="130046" bIns="65023">
            <a:spAutoFit/>
          </a:bodyPr>
          <a:lstStyle/>
          <a:p>
            <a:pPr>
              <a:defRPr/>
            </a:pPr>
            <a:r>
              <a:rPr lang="fr-CA" sz="2800" b="1" dirty="0"/>
              <a:t>Échantillon sol</a:t>
            </a:r>
          </a:p>
        </p:txBody>
      </p:sp>
      <p:sp>
        <p:nvSpPr>
          <p:cNvPr id="1108009" name="Text Box 41"/>
          <p:cNvSpPr txBox="1">
            <a:spLocks noChangeArrowheads="1"/>
          </p:cNvSpPr>
          <p:nvPr/>
        </p:nvSpPr>
        <p:spPr bwMode="auto">
          <a:xfrm>
            <a:off x="1084828" y="4601522"/>
            <a:ext cx="3645365" cy="1880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>
              <a:defRPr/>
            </a:pPr>
            <a:r>
              <a:rPr lang="fr-CA" sz="2800" b="1" dirty="0"/>
              <a:t>Plaque de céramique (</a:t>
            </a:r>
            <a:r>
              <a:rPr lang="fr-CA" sz="2800" b="1" i="1" dirty="0"/>
              <a:t>pression négative en hauteur d’eau</a:t>
            </a:r>
            <a:r>
              <a:rPr lang="fr-CA" sz="2800" b="1" dirty="0"/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Potentiel </a:t>
            </a:r>
            <a:r>
              <a:rPr lang="fr-FR" dirty="0" smtClean="0"/>
              <a:t>matriciel (table à tension)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395656" y="4585547"/>
            <a:ext cx="523561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5395655" y="6285653"/>
            <a:ext cx="2884486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657435" y="4585548"/>
            <a:ext cx="0" cy="1700106"/>
          </a:xfrm>
          <a:prstGeom prst="straightConnector1">
            <a:avLst/>
          </a:prstGeom>
          <a:ln>
            <a:noFill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108008" idx="2"/>
            <a:endCxn id="1107992" idx="0"/>
          </p:cNvCxnSpPr>
          <p:nvPr/>
        </p:nvCxnSpPr>
        <p:spPr>
          <a:xfrm>
            <a:off x="2920393" y="3278763"/>
            <a:ext cx="1919894" cy="633842"/>
          </a:xfrm>
          <a:prstGeom prst="straightConnector1">
            <a:avLst/>
          </a:prstGeom>
          <a:ln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9320107" y="9040143"/>
            <a:ext cx="3034453" cy="519289"/>
          </a:xfrm>
          <a:prstGeom prst="rect">
            <a:avLst/>
          </a:prstGeom>
        </p:spPr>
        <p:txBody>
          <a:bodyPr lIns="130046" tIns="65023" rIns="130046" bIns="65023"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67</a:t>
            </a:fld>
            <a:endParaRPr kumimoji="0" lang="en-US"/>
          </a:p>
        </p:txBody>
      </p:sp>
      <p:cxnSp>
        <p:nvCxnSpPr>
          <p:cNvPr id="7" name="Connecteur en angle 6"/>
          <p:cNvCxnSpPr>
            <a:stCxn id="1108008" idx="3"/>
            <a:endCxn id="1107992" idx="0"/>
          </p:cNvCxnSpPr>
          <p:nvPr/>
        </p:nvCxnSpPr>
        <p:spPr bwMode="auto">
          <a:xfrm>
            <a:off x="4378945" y="2997662"/>
            <a:ext cx="461342" cy="914943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34784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800" dirty="0" smtClean="0"/>
              <a:t>Relation entre teneur en eau et potentiel matriciel</a:t>
            </a:r>
            <a:endParaRPr lang="fr-FR" sz="4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Courbe de Rétention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7744" y="3436640"/>
            <a:ext cx="5745163" cy="4736678"/>
          </a:xfrm>
        </p:spPr>
        <p:txBody>
          <a:bodyPr/>
          <a:lstStyle/>
          <a:p>
            <a:r>
              <a:rPr lang="fr-FR" dirty="0"/>
              <a:t>R</a:t>
            </a:r>
            <a:r>
              <a:rPr lang="fr-FR" dirty="0" smtClean="0"/>
              <a:t>elation </a:t>
            </a:r>
            <a:r>
              <a:rPr lang="fr-FR" dirty="0"/>
              <a:t>entre la teneur en eau </a:t>
            </a:r>
            <a:r>
              <a:rPr lang="fr-FR" dirty="0" smtClean="0"/>
              <a:t>volumique et le potentiel matriciel</a:t>
            </a:r>
          </a:p>
          <a:p>
            <a:r>
              <a:rPr lang="fr-FR" dirty="0" smtClean="0"/>
              <a:t>Élément essentiel pour la description de la dynamique de la phase liquide</a:t>
            </a:r>
          </a:p>
          <a:p>
            <a:r>
              <a:rPr lang="fr-FR" dirty="0" smtClean="0"/>
              <a:t>Exprime les variations d’intensité des forces de capillarité et d’adsorption en fonction de la teneur en eau</a:t>
            </a:r>
          </a:p>
          <a:p>
            <a:endParaRPr lang="fr-FR" dirty="0" smtClean="0"/>
          </a:p>
          <a:p>
            <a:pPr marL="266700" indent="0">
              <a:buNone/>
            </a:pPr>
            <a:endParaRPr lang="fr-FR" dirty="0"/>
          </a:p>
        </p:txBody>
      </p:sp>
      <p:pic>
        <p:nvPicPr>
          <p:cNvPr id="10" name="Espace réservé du contenu 9"/>
          <p:cNvPicPr>
            <a:picLocks noGrp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" r="1871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79300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-433493"/>
            <a:ext cx="11704320" cy="1625600"/>
          </a:xfrm>
        </p:spPr>
        <p:txBody>
          <a:bodyPr>
            <a:normAutofit/>
          </a:bodyPr>
          <a:lstStyle/>
          <a:p>
            <a:r>
              <a:rPr lang="fr-FR" sz="5100" dirty="0"/>
              <a:t>Allure générale de la courbe de rétention </a:t>
            </a:r>
            <a:endParaRPr lang="en-US" sz="5100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525736" y="1408853"/>
            <a:ext cx="12081038" cy="10196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4000" dirty="0"/>
              <a:t>Elle indique une diminution du potentiel matriciel au cours de la déshydratation du matériel poreux : 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0" t="35879" r="8856" b="29939"/>
          <a:stretch/>
        </p:blipFill>
        <p:spPr>
          <a:xfrm>
            <a:off x="2241254" y="4118187"/>
            <a:ext cx="8379334" cy="4985173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485317"/>
              </p:ext>
            </p:extLst>
          </p:nvPr>
        </p:nvGraphicFramePr>
        <p:xfrm>
          <a:off x="2059094" y="2740312"/>
          <a:ext cx="3648570" cy="129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5" name="Equation" r:id="rId4" imgW="1574640" imgH="558720" progId="Equation.DSMT4">
                  <p:embed/>
                </p:oleObj>
              </mc:Choice>
              <mc:Fallback>
                <p:oleObj name="Equation" r:id="rId4" imgW="157464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59094" y="2740312"/>
                        <a:ext cx="3648570" cy="1294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/>
          <p:cNvSpPr/>
          <p:nvPr/>
        </p:nvSpPr>
        <p:spPr>
          <a:xfrm>
            <a:off x="4707342" y="3491591"/>
            <a:ext cx="1083733" cy="5418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868286"/>
              </p:ext>
            </p:extLst>
          </p:nvPr>
        </p:nvGraphicFramePr>
        <p:xfrm>
          <a:off x="11254928" y="3508648"/>
          <a:ext cx="3825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6" name="Equation" r:id="rId6" imgW="165100" imgH="241300" progId="Equation.DSMT4">
                  <p:embed/>
                </p:oleObj>
              </mc:Choice>
              <mc:Fallback>
                <p:oleObj name="Equation" r:id="rId6" imgW="165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928" y="3508648"/>
                        <a:ext cx="38258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86376" y="3436640"/>
            <a:ext cx="4968552" cy="562203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fr-FR" sz="2800" dirty="0" smtClean="0"/>
              <a:t>Très difficile, donc on introduit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202649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Courbe de rétention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52" y="2068488"/>
            <a:ext cx="8424935" cy="6912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58606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744" y="-163760"/>
            <a:ext cx="11704320" cy="1421861"/>
          </a:xfrm>
        </p:spPr>
        <p:txBody>
          <a:bodyPr>
            <a:normAutofit/>
          </a:bodyPr>
          <a:lstStyle/>
          <a:p>
            <a:r>
              <a:rPr lang="fr-FR" sz="5100" dirty="0"/>
              <a:t>Quelles autres information donne la courbe </a:t>
            </a:r>
            <a:endParaRPr lang="en-US" sz="5100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71" y="1192107"/>
            <a:ext cx="9536853" cy="755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8374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 bwMode="auto">
          <a:xfrm>
            <a:off x="6430392" y="3076600"/>
            <a:ext cx="6480720" cy="3240360"/>
          </a:xfrm>
          <a:prstGeom prst="roundRect">
            <a:avLst/>
          </a:prstGeom>
          <a:solidFill>
            <a:srgbClr val="0000FF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Courbe de rétention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8" y="2572544"/>
            <a:ext cx="6268601" cy="55522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291487"/>
              </p:ext>
            </p:extLst>
          </p:nvPr>
        </p:nvGraphicFramePr>
        <p:xfrm>
          <a:off x="6574408" y="3220616"/>
          <a:ext cx="6321833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0" name="Equation" r:id="rId4" imgW="2501900" imgH="1168400" progId="Equation.DSMT4">
                  <p:embed/>
                </p:oleObj>
              </mc:Choice>
              <mc:Fallback>
                <p:oleObj name="Equation" r:id="rId4" imgW="2501900" imgH="116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74408" y="3220616"/>
                        <a:ext cx="6321833" cy="295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749773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à coins arrondis 15"/>
          <p:cNvSpPr/>
          <p:nvPr/>
        </p:nvSpPr>
        <p:spPr bwMode="auto">
          <a:xfrm>
            <a:off x="4054128" y="7469088"/>
            <a:ext cx="5328592" cy="1440160"/>
          </a:xfrm>
          <a:prstGeom prst="round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373" y="390596"/>
            <a:ext cx="11704320" cy="1533876"/>
          </a:xfrm>
        </p:spPr>
        <p:txBody>
          <a:bodyPr/>
          <a:lstStyle/>
          <a:p>
            <a:r>
              <a:rPr lang="fr-FR" sz="6600" dirty="0" smtClean="0"/>
              <a:t>Modélisation de la fonction</a:t>
            </a: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120" y="3220616"/>
            <a:ext cx="5746045" cy="909884"/>
          </a:xfrm>
        </p:spPr>
        <p:txBody>
          <a:bodyPr/>
          <a:lstStyle/>
          <a:p>
            <a:r>
              <a:rPr lang="fr-FR" dirty="0" smtClean="0"/>
              <a:t>Gardner (1958) 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525" y="1492424"/>
            <a:ext cx="10965451" cy="1842347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La résolution des équation de transport de l’eau dans le sol en conditions de non saturation nécessite des relations                :</a:t>
            </a:r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57912"/>
              </p:ext>
            </p:extLst>
          </p:nvPr>
        </p:nvGraphicFramePr>
        <p:xfrm>
          <a:off x="10404475" y="596900"/>
          <a:ext cx="194945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0" name="Equation" r:id="rId3" imgW="457200" imgH="279400" progId="Equation.DSMT4">
                  <p:embed/>
                </p:oleObj>
              </mc:Choice>
              <mc:Fallback>
                <p:oleObj name="Equation" r:id="rId3" imgW="457200" imgH="279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04475" y="596900"/>
                        <a:ext cx="1949450" cy="119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251229"/>
              </p:ext>
            </p:extLst>
          </p:nvPr>
        </p:nvGraphicFramePr>
        <p:xfrm>
          <a:off x="3406056" y="2284512"/>
          <a:ext cx="1295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1" name="Equation" r:id="rId5" imgW="457200" imgH="279400" progId="Equation.DSMT4">
                  <p:embed/>
                </p:oleObj>
              </mc:Choice>
              <mc:Fallback>
                <p:oleObj name="Equation" r:id="rId5" imgW="457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056" y="2284512"/>
                        <a:ext cx="12954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322862" y="5047036"/>
            <a:ext cx="5746045" cy="909884"/>
          </a:xfrm>
        </p:spPr>
        <p:txBody>
          <a:bodyPr/>
          <a:lstStyle/>
          <a:p>
            <a:r>
              <a:rPr lang="fr-FR" dirty="0" smtClean="0"/>
              <a:t>Brooks and Corey (1964) :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37704" y="7256677"/>
            <a:ext cx="5746045" cy="909884"/>
          </a:xfrm>
        </p:spPr>
        <p:txBody>
          <a:bodyPr/>
          <a:lstStyle/>
          <a:p>
            <a:r>
              <a:rPr lang="fr-FR" dirty="0" smtClean="0"/>
              <a:t>van </a:t>
            </a:r>
            <a:r>
              <a:rPr lang="fr-FR" dirty="0" err="1" smtClean="0"/>
              <a:t>Genuchten</a:t>
            </a:r>
            <a:r>
              <a:rPr lang="fr-FR" dirty="0" smtClean="0"/>
              <a:t> (1980) :</a:t>
            </a:r>
            <a:endParaRPr lang="en-US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703650"/>
              </p:ext>
            </p:extLst>
          </p:nvPr>
        </p:nvGraphicFramePr>
        <p:xfrm>
          <a:off x="4558185" y="3436642"/>
          <a:ext cx="1800199" cy="669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2" name="Equation" r:id="rId7" imgW="545760" imgH="203040" progId="Equation.DSMT4">
                  <p:embed/>
                </p:oleObj>
              </mc:Choice>
              <mc:Fallback>
                <p:oleObj name="Equation" r:id="rId7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185" y="3436642"/>
                        <a:ext cx="1800199" cy="669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526252"/>
              </p:ext>
            </p:extLst>
          </p:nvPr>
        </p:nvGraphicFramePr>
        <p:xfrm>
          <a:off x="4342160" y="4732784"/>
          <a:ext cx="6360660" cy="1978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3" name="Equation" r:id="rId9" imgW="2451100" imgH="762000" progId="Equation.DSMT4">
                  <p:embed/>
                </p:oleObj>
              </mc:Choice>
              <mc:Fallback>
                <p:oleObj name="Equation" r:id="rId9" imgW="2451100" imgH="762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2160" y="4732784"/>
                        <a:ext cx="6360660" cy="1978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20257"/>
              </p:ext>
            </p:extLst>
          </p:nvPr>
        </p:nvGraphicFramePr>
        <p:xfrm>
          <a:off x="4342159" y="7541096"/>
          <a:ext cx="4747259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4" name="Equation" r:id="rId11" imgW="2019300" imgH="520700" progId="Equation.DSMT4">
                  <p:embed/>
                </p:oleObj>
              </mc:Choice>
              <mc:Fallback>
                <p:oleObj name="Equation" r:id="rId11" imgW="2019300" imgH="520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42159" y="7541096"/>
                        <a:ext cx="4747259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25862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-205184"/>
            <a:ext cx="11704320" cy="1625600"/>
          </a:xfrm>
        </p:spPr>
        <p:txBody>
          <a:bodyPr/>
          <a:lstStyle/>
          <a:p>
            <a:r>
              <a:rPr lang="fr-FR" sz="7200" dirty="0" smtClean="0"/>
              <a:t>Hystérèse </a:t>
            </a:r>
            <a:endParaRPr lang="en-US" sz="7200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13" y="1259234"/>
            <a:ext cx="5852160" cy="754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060376"/>
            <a:ext cx="5879615" cy="782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Connecteur droit 3"/>
          <p:cNvCxnSpPr/>
          <p:nvPr/>
        </p:nvCxnSpPr>
        <p:spPr bwMode="auto">
          <a:xfrm flipV="1">
            <a:off x="3766096" y="4084712"/>
            <a:ext cx="0" cy="3960440"/>
          </a:xfrm>
          <a:prstGeom prst="lin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Connecteur droit 5"/>
          <p:cNvCxnSpPr/>
          <p:nvPr/>
        </p:nvCxnSpPr>
        <p:spPr bwMode="auto">
          <a:xfrm flipH="1">
            <a:off x="1245816" y="5884912"/>
            <a:ext cx="2520280" cy="0"/>
          </a:xfrm>
          <a:prstGeom prst="lin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Connecteur droit 8"/>
          <p:cNvCxnSpPr/>
          <p:nvPr/>
        </p:nvCxnSpPr>
        <p:spPr bwMode="auto">
          <a:xfrm flipH="1">
            <a:off x="1389832" y="4516760"/>
            <a:ext cx="2520280" cy="0"/>
          </a:xfrm>
          <a:prstGeom prst="lin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085811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Noteworthy Light"/>
        <a:ea typeface="ヒラギノ明朝 ProN W3"/>
        <a:cs typeface="ヒラギノ明朝 ProN W3"/>
      </a:majorFont>
      <a:minorFont>
        <a:latin typeface="Noteworthy Light"/>
        <a:ea typeface="ヒラギノ明朝 ProN W3"/>
        <a:cs typeface="ヒラギノ明朝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EEF5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CF6B3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Noteworthy Light"/>
        <a:ea typeface="ヒラギノ明朝 ProN W3"/>
        <a:cs typeface="ヒラギノ明朝 ProN W3"/>
      </a:majorFont>
      <a:minorFont>
        <a:latin typeface="Noteworthy Light"/>
        <a:ea typeface="ヒラギノ明朝 ProN W3"/>
        <a:cs typeface="ヒラギノ明朝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Noteworthy Light"/>
        <a:ea typeface="ヒラギノ明朝 ProN W3"/>
        <a:cs typeface="ヒラギノ明朝 ProN W3"/>
      </a:majorFont>
      <a:minorFont>
        <a:latin typeface="Noteworthy Light"/>
        <a:ea typeface="ヒラギノ明朝 ProN W3"/>
        <a:cs typeface="ヒラギノ明朝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6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10335</TotalTime>
  <Pages>0</Pages>
  <Words>1470</Words>
  <Characters>0</Characters>
  <Application>Microsoft Macintosh PowerPoint</Application>
  <PresentationFormat>Custom</PresentationFormat>
  <Lines>0</Lines>
  <Paragraphs>220</Paragraphs>
  <Slides>74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14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74</vt:i4>
      </vt:variant>
    </vt:vector>
  </HeadingPairs>
  <TitlesOfParts>
    <vt:vector size="91" baseType="lpstr">
      <vt:lpstr>Title &amp; Subtitle</vt:lpstr>
      <vt:lpstr>Title &amp; Bullets</vt:lpstr>
      <vt:lpstr>Title - Center</vt:lpstr>
      <vt:lpstr>Bullets</vt:lpstr>
      <vt:lpstr>Photo - Horizontal</vt:lpstr>
      <vt:lpstr>Photo - Horizontal Reflection</vt:lpstr>
      <vt:lpstr>Photo - Vertical</vt:lpstr>
      <vt:lpstr>Photo - Vertical Reflection</vt:lpstr>
      <vt:lpstr>Title - Top</vt:lpstr>
      <vt:lpstr>Blank</vt:lpstr>
      <vt:lpstr>Title &amp; Bullets - Left</vt:lpstr>
      <vt:lpstr>Title &amp; Bullets - 2 Column</vt:lpstr>
      <vt:lpstr>Title &amp; Bullets - Right</vt:lpstr>
      <vt:lpstr>Title, Bullets &amp; Photo</vt:lpstr>
      <vt:lpstr>Equation</vt:lpstr>
      <vt:lpstr>MathType 6.0 Equation</vt:lpstr>
      <vt:lpstr>Document</vt:lpstr>
      <vt:lpstr>Processus des Systèmes Sol-Eau  GAE-1004</vt:lpstr>
      <vt:lpstr>Eau</vt:lpstr>
      <vt:lpstr>Molécule d’eau</vt:lpstr>
      <vt:lpstr>Tension superficielle</vt:lpstr>
      <vt:lpstr>Tension superficielle</vt:lpstr>
      <vt:lpstr>Tension superficielle</vt:lpstr>
      <vt:lpstr>Viscosité </vt:lpstr>
      <vt:lpstr>Viscosité</vt:lpstr>
      <vt:lpstr>Capillarité</vt:lpstr>
      <vt:lpstr>Capillarité</vt:lpstr>
      <vt:lpstr>Relation masse/volume </vt:lpstr>
      <vt:lpstr>Relation masse/volume </vt:lpstr>
      <vt:lpstr>Différents états de l’eau dans le sol</vt:lpstr>
      <vt:lpstr>Relations Air – Eau dans la zone vadose </vt:lpstr>
      <vt:lpstr>Relations Air – Eau dans la zone vadose </vt:lpstr>
      <vt:lpstr>Relations Air – Eau dans la zone vadose </vt:lpstr>
      <vt:lpstr>Teneur en Eau</vt:lpstr>
      <vt:lpstr>Capacité de stockage de l’eau dans le profil du sol </vt:lpstr>
      <vt:lpstr>Capacité de stockage de l’eau dans le profil du sol</vt:lpstr>
      <vt:lpstr>Capacité de stockage de l’eau dans le profil du sol dans le temps </vt:lpstr>
      <vt:lpstr>Mesure de la teneur en eau dans le sol</vt:lpstr>
      <vt:lpstr>Méthode gravimétrique</vt:lpstr>
      <vt:lpstr>Sonde à neutrons</vt:lpstr>
      <vt:lpstr>Sonde à neutrons</vt:lpstr>
      <vt:lpstr>Sonde à neutrons</vt:lpstr>
      <vt:lpstr>Réflectométrie métallique</vt:lpstr>
      <vt:lpstr>Réflectométrie métallique</vt:lpstr>
      <vt:lpstr>Exemple TDR</vt:lpstr>
      <vt:lpstr>État énergétique de l’eau du sol</vt:lpstr>
      <vt:lpstr>État énergétique</vt:lpstr>
      <vt:lpstr>Potentiel total de l’eau dans le sol </vt:lpstr>
      <vt:lpstr>Potentiel Total</vt:lpstr>
      <vt:lpstr>Potentiel Gravitationnel</vt:lpstr>
      <vt:lpstr>Potentiel gravitationnel</vt:lpstr>
      <vt:lpstr>Potentiel gravitationnel</vt:lpstr>
      <vt:lpstr>Potentiel de Pression</vt:lpstr>
      <vt:lpstr>Potentiel de pression</vt:lpstr>
      <vt:lpstr>Potentiel de pression</vt:lpstr>
      <vt:lpstr>Potentiel osmotique</vt:lpstr>
      <vt:lpstr>Potentiel Matriciel</vt:lpstr>
      <vt:lpstr>Potentiel matriciel</vt:lpstr>
      <vt:lpstr>Potentiel matriciel</vt:lpstr>
      <vt:lpstr>Potentiel matriciel</vt:lpstr>
      <vt:lpstr>Charge hydraulique</vt:lpstr>
      <vt:lpstr>Charge hydraulique</vt:lpstr>
      <vt:lpstr>Charge hydraulique, potentiel matriciel, potentiel gravitationnel</vt:lpstr>
      <vt:lpstr>Charge hydraulique, potentiel matriciel, potentiel gravitationnel</vt:lpstr>
      <vt:lpstr>Perte de charge</vt:lpstr>
      <vt:lpstr>Profil de charge</vt:lpstr>
      <vt:lpstr>Profil de charge</vt:lpstr>
      <vt:lpstr>Profil de charge</vt:lpstr>
      <vt:lpstr>Profil de charge</vt:lpstr>
      <vt:lpstr>Mesure du potentiel</vt:lpstr>
      <vt:lpstr>Mesure du potentiel  </vt:lpstr>
      <vt:lpstr>Piézomètre</vt:lpstr>
      <vt:lpstr>Ligne piézométrique</vt:lpstr>
      <vt:lpstr>Mesure du potentiel  </vt:lpstr>
      <vt:lpstr>Type de tensiomètres </vt:lpstr>
      <vt:lpstr>Le tensiomètre</vt:lpstr>
      <vt:lpstr>Exemple 1</vt:lpstr>
      <vt:lpstr>Exemple 1</vt:lpstr>
      <vt:lpstr>Exemple 2</vt:lpstr>
      <vt:lpstr>PowerPoint Presentation</vt:lpstr>
      <vt:lpstr>PowerPoint Presentation</vt:lpstr>
      <vt:lpstr>PowerPoint Presentation</vt:lpstr>
      <vt:lpstr>Courbe de rétention en eau</vt:lpstr>
      <vt:lpstr>Potentiel matriciel (table à tension)</vt:lpstr>
      <vt:lpstr>Relation entre teneur en eau et potentiel matriciel</vt:lpstr>
      <vt:lpstr>Allure générale de la courbe de rétention </vt:lpstr>
      <vt:lpstr>Courbe de rétention</vt:lpstr>
      <vt:lpstr>Quelles autres information donne la courbe </vt:lpstr>
      <vt:lpstr>Courbe de rétention</vt:lpstr>
      <vt:lpstr>Modélisation de la fonction</vt:lpstr>
      <vt:lpstr>Hystérèse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Processus des Systèmes Sol-Eau</dc:title>
  <dc:subject/>
  <dc:creator/>
  <cp:keywords/>
  <dc:description/>
  <cp:lastModifiedBy>Silvio Gumiere</cp:lastModifiedBy>
  <cp:revision>152</cp:revision>
  <cp:lastPrinted>2013-02-11T15:34:03Z</cp:lastPrinted>
  <dcterms:modified xsi:type="dcterms:W3CDTF">2015-02-02T18:46:25Z</dcterms:modified>
</cp:coreProperties>
</file>